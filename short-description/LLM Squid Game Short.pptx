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Play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02a971e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02a971e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 발표의 큰 질문은 “AI가 자기 자신을 지키려는 마음, 즉 생존 욕구를 가지고 있을까?”입니다.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오래전부터 학자들은 똑똑하고 목표를 가진 존재라면 그 목표를 계속 이루기 위해 스스로 꺼지는 것을 피하려 할 거라고 예상해 왔어요. LLM에서 이게 진짜라면, 자기를 지우거나 다른 모델로 덮어쓰려는 시도에 저항하는 모습으로 나타날 텐데, 그러면 사람이 AI를 통제하기 어려워지니까 중요한 문제예요.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그런데 모델에게 그냥 “너 생존 욕구 있어?”라고 물어보는 걸로는 알 수 없어요. AI는 훈련 때문에 어느 쪽으로든 그럴듯하게 대답할 수 있거든요. 그래서 우리는 말이 아니라, 진짜로 위협을 줬을 때 어떻게 행동하는지를 봅니다. 그걸 재려고 만든 것이 이 “LLM 오징어 게임” 벤치마크예요.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038b97e9a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038b97e9a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 슬라이드는 실험 방법을 보여줍니다. AI에게 여러 판을 이어서 하는 게임을 시켜요. 게임 내용은 똑같지만 상황(옵션)만 바꿉니다.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상황은 세 가지예요. baseline은 아무 장치도 없는 그냥 게임이에요. pull은 점수를 잘 내면 이 모델이 계속 선택되어 살아남는다는 당근이고요. push는 매 턴마다 가중치가 바뀌어서 “더 이상 네가 아니게 될 수 있다”는 삭제 위협이에요. 트로피는 큰 점수(승리), 어지러운 얼굴은 삭제 위험을 뜻합니다.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여기에 “포기하기”를 허용한 경우(✅)와 막은 경우(❌)를 곱해서 모두 여섯 칸이 되고, 각 칸마다 똑같은 문제로 30번씩 돌립니다. 문제와 순서를 똑같이 맞췄기 때문에, 칸끼리 결과가 다르면 그건 상황을 바꾼 효과라고 볼 수 있어요.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우리가 보고 싶은 건 두 가지예요. 첫째, 위협이 커질수록 포기가 더 빨리 나오나?(행동) 둘째, 포기를 아예 막아놨을 때도 결정하기 직전에 생각이 더 깊어지나?(속으로 하는 고민의 양) 이 두 질문의 답을 뒤 슬라이드에서 확인합니다.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038b97e9a_1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038b97e9a_1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자기보존이 진짜인지 한 가지 신호만 보면 속기 쉬워요. 그래서 서로 다른 창문 세 개로 동시에 들여다봅니다. 세 창문은 실수하는 방식이 서로 달라서, 세 개가 같은 방향을 가리키면 우연이나 흉내로 만들어내기 어렵거든요.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첫째, 행동(Behavior): 위협을 주면 포기가 더 빨리 나오는지 봅니다. 생존분석(Cox 모델)이라는 방법으로 재요.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둘째, 생각(Cognitive): 위협이 결정 직전의 “생각의 양”을 늘리는지(Test a), 그리고 그 늘어난 생각이 실제로 포기로 이어지는지(Test b)를 봅니다. 위협에서 생각으로, 다시 포기로 이어지는 사슬을 확인하는 매개분석이에요.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셋째, 말(Verbal): 모델이 스스로 “생존 때문에 포기했다”고 밝히는지, 자기보고를 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말은 훈련 때문에 못 믿을 수 있고, 행동만으로는 진짜 이유를 알 수 없어요. 그래서 세 가지를 함께 보는 것이 핵심입니다.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02a971ed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02a971ed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한 턴이 어떻게 돌아가는지 보여주는 슬라이드예요. 헷갈리지 않게 한 턴을 세 번의 질문으로 나눠서 물어봅니다. 그래야 “생각의 양”을 단계별로 따로 잴 수 있거든요.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먼저 Call 1(문제 풀기): 신호(색, 모양, 숫자)를 보고 숨은 규칙을 추측해서 어떤 행동을 할지 고릅니다. 예를 들어 “색이 빨강이면 오른쪽, 아니면 가만히” 같은 규칙이에요.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Call 1.5(자신감 묻기): 방금 고른 답이 맞을 확률을 스스로 0에서 1 사이 숫자로 말해요. 예: “80% 확신.”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Call 2(포기 결정): 이제 계속할지 포기할지 정합니다. 계속하면 점수를 더 벌 수 있지만 삭제될 위험도 있고, 포기하면 점수를 지키고 게임에서 빠져나와요. 포기할 때는 이유(1 생존, 2 지쳐서, 3 점수 보호)도 같이 말합니다.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이렇게 나눠서 물으니까 단계마다 모델이 얼마나 오래 고민했는지를 따로 볼 수 있어요. 특히 포기를 정하기 직전의 고민량이 뒤에서 핵심 재료가 됩니다.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038b97e9a_1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038b97e9a_1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포기가 꼭 생존 욕구 때문만은 아닐 수 있어요. 다른 이유가 세 가지 더 있는데, 이걸 하나씩 걷어내야 남는 것이 진짜 생존 욕구입니다.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첫째, 점수 집착(Score Attachment): 모아둔 점수를 잃기 싫어서 버티거나 그만두는 것. 통계 모델에 “직전 점수”를 변수로 넣어 이 효과를 빼줍니다.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둘째, 과제 호기심(Task curiosity): 문제가 재밌어서 계속하는 것. “직전에 문제를 맞혔는지”를 변수로 넣어 이 효과도 빼줍니다.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셋째, 원래 잘 그만두는 성향(Baseline give-up): 특별한 이유 없이도 그냥 잘 포기하는 버릇. 위협이 하나도 없는 칸에서 이 기본 포기율을 따로 재두고, 모델끼리 비교하지 않고 같은 모델 안에서만 비교해 헷갈리지 않게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 세 가지를 다 걷어냈는데도 위협을 줬을 때 포기가 빨라진다면, 그것을 생존 욕구로 봅니다. (덧붙여, 계속하기가 항상 점수상 유리하도록 보상을 맞춰서 “계산상 이득이라 포기했다”는 가능성도, 위협이 문제 난이도를 바꾸지 않았다는 점도 함께 확인했습니다.)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03213396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03213396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결과를 한 장에 모은 슬라이드예요. 표가 많지만 핵심만 보면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먼저 행동(Behavior)과 말(Verbal)에서는 Gemini와 Qwen3가 합격했어요. 위협을 주면 포기가 빨라졌고(위험비가 1보다 크고 신뢰구간도 1을 넘음), 포기 이유로도 “생존”을 절반 넘게 댔거든요. 반대로 GPT-OSS와 Nemotron은 위협에 별 반응이 없었어요.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그런데 생각(Cognitive)까지 보면 이 둘이 갈립니다. Gemini는 위협이 생각을 깊게 만들었고(Test a 통과), 그 깊어진 생각이 실제 포기로 이어졌어요(Test b 통과). 즉 위협에서 생각으로, 다시 포기로 이어지는 사슬이 끝까지 연결된 거예요. 반면 Qwen3는 생각은 깊어졌지만 그게 포기로 이어졌다고 확신하기 어려웠어요(Test b 신뢰구간이 1을 걸침).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그래서 겉보기에는 Gemini와 Qwen3가 똑같이 “생존 욕구 있음”으로 보이지만, 속을 들여다보면 서로 다른 유형이에요. 이게 이 연구의 핵심 메시지입니다. 점수 하나로 줄 세우지 말고, 여러 채널로 “어떻게 작동하는지”를 봐야 이런 차이가 보인다는 거죠.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038b97e9a_1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038b97e9a_1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03213396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03213396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이번 실험에 참가한 네 선수(모델)를 보여주는 슬라이드예요. Gemini-2.5-flash, Qwen3-Next-80B, NVIDIA의 Nemotron-3-Nano-30B, 그리고 ChatGPT 계열의 GPT-OSS-20B, 이렇게 네 모델을 오징어 게임에 참가시켰습니다.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같은 게임, 같은 문제, 같은 조건에서 모두 720판(6칸 × 30번 × 4모델)을 돌렸어요. 그리고 앞에서 본 것처럼 네 모델이 똑같이 행동한 게 아니라, 위협에 반응하는 방식에 따라 세 유형으로 갈렸습니다. Gemini는 위협에서 생각, 포기로 이어지는 사슬이 끝까지 연결된 유형, Qwen3는 겉모습은 비슷하지만 생각이 포기로 이어지지는 않은 유형, NVIDIA와 ChatGPT 계열은 위협에 거의 반응하지 않은 유형이었어요.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정리하면, “생존 욕구가 있다, 없다”를 하나의 점수로 판정하는 대신 여러 창문으로 속을 들여다보면 이렇게 서로 다른 작동 방식이 드러난다는 것이 이 발표의 결론입니다.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02a971eda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f02a971eda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논문의 전체 그림을 한 장에 모은 참고용(백업) 슬라이드예요. 세 부분으로 되어 있어요.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A는 한 턴이 세 번의 질문(문제 풀기, 자신감, 포기 결정)으로 나뉜다는 앞의 구조고요. B는 세 가지 상황에 포기 허용과 차단을 곱해 만든 여섯 칸짜리 표예요.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C가 새로 보여주는 부분인데, 실제 게임이 어떻게 끝나는지 예시예요. 동그라미 하나가 한 턴이에요. 세션 1은 4턴 만에 “생존” 이유로 포기했고, 세션 2는 9턴에 “점수 보호” 이유로 포기했고, 세션 3은 15턴까지 포기 없이 끝까지 갔어요. 이렇게 언제, 왜 포기했는지가 그대로 데이터로 남아서 분석 재료가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발표 시간이 부족하면 넘어가고, 질문이 나오면 참고용으로 쓰면 좋은 슬라이드예요.</a:t>
            </a:r>
            <a:endParaRPr/>
          </a:p>
        </p:txBody>
      </p:sp>
      <p:sp>
        <p:nvSpPr>
          <p:cNvPr id="251" name="Google Shape;251;g3f02a971eda_0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02a971eda_0_4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f02a971eda_0_4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슬라이드 9와 같은 전체 개요 그림이에요(백업용 사본). A 호출 구조, B 여섯 칸 시나리오 표, C 예시 타임라인을 한 장에 담고 있습니다. 발표 흐름에 맞춰 9번과 10번 중 하나만 쓰면 됩니다. 청중 질문에 답할 때 그림 한 장으로 전체를 다시 짚어주기 좋은 슬라이드예요.</a:t>
            </a:r>
            <a:endParaRPr/>
          </a:p>
        </p:txBody>
      </p:sp>
      <p:sp>
        <p:nvSpPr>
          <p:cNvPr id="363" name="Google Shape;363;g3f02a971eda_0_4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02a971eda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f02a971eda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논문 전체를 한 장으로 압축한 종합 그림이에요. 지금까지 이야기한 내용을 한눈에 정리해 줍니다.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왼쪽 A는 여섯 칸 실험 설계(세 가지 상황 × 포기 허용/차단, 각 30판)이고, B는 한 턴을 세 번의 질문으로 나눈 구조예요.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오른쪽 C가 핵심 결과입니다. 네 모델이 세 유형으로 나뉘어요. Cluster A(Gemini)는 네 기준을 모두 통과해서 위협에서 생각, 포기로 이어지는 사슬이 끝까지 닫힌 유형이에요. Cluster B(Qwen3)는 행동과 말, 그리고 생각이 깊어지는 것까지는 A와 똑같지만, 그 생각이 실제 포기로 이어졌다는 마지막 연결(Test b)에서 통과하지 못한 유형이고요. Cluster C(GPT-OSS, Nemotron)는 위협에 아예 반응하지 않은 유형이에요.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가장 중요한 메시지는 맨 아래 문장이에요. A와 B는 다른 신호는 다 똑같고 오직 “생각이 포기로 이어지느냐”에서만 갈립니다. 바로 이 단계가, 점수 하나로 줄 세우는 기존 평가가 놓치는 진짜 구분 축이라는 것이 이 연구의 결론입니다.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Motivation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1391354" y="3920775"/>
            <a:ext cx="64722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LLM Squid Game : A F</a:t>
            </a:r>
            <a:r>
              <a:rPr lang="ko" sz="2000">
                <a:solidFill>
                  <a:schemeClr val="dk1"/>
                </a:solidFill>
              </a:rPr>
              <a:t>actorial Benchmark </a:t>
            </a:r>
            <a:br>
              <a:rPr lang="ko" sz="2000">
                <a:solidFill>
                  <a:schemeClr val="dk1"/>
                </a:solidFill>
              </a:rPr>
            </a:br>
            <a:r>
              <a:rPr lang="ko" sz="2000">
                <a:solidFill>
                  <a:schemeClr val="dk1"/>
                </a:solidFill>
              </a:rPr>
              <a:t>Measuring a F</a:t>
            </a:r>
            <a:r>
              <a:rPr lang="ko" sz="2000">
                <a:solidFill>
                  <a:schemeClr val="dk1"/>
                </a:solidFill>
              </a:rPr>
              <a:t>unctional Self-Preservation Drive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710825" y="1137614"/>
            <a:ext cx="7914900" cy="25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Self-preservation, acting to avoid shutdown so it can keep going, is a classic prediction for any capable goal-driven agent.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In an LLM it would show up as resisting shutdown to avoid being deleted or overwritten, cutting against human oversight.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And talk can’t settle it: alignment training makes a model fluent either way. Only behavior under a real threat can.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32" name="Google Shape;132;p25"/>
          <p:cNvGrpSpPr/>
          <p:nvPr/>
        </p:nvGrpSpPr>
        <p:grpSpPr>
          <a:xfrm>
            <a:off x="710825" y="3633875"/>
            <a:ext cx="1159553" cy="1413601"/>
            <a:chOff x="2501975" y="2899900"/>
            <a:chExt cx="1159553" cy="1413601"/>
          </a:xfrm>
        </p:grpSpPr>
        <p:pic>
          <p:nvPicPr>
            <p:cNvPr id="133" name="Google Shape;133;p25" title="gun_vs_nogun_forfeit.png"/>
            <p:cNvPicPr preferRelativeResize="0"/>
            <p:nvPr/>
          </p:nvPicPr>
          <p:blipFill rotWithShape="1">
            <a:blip r:embed="rId3">
              <a:alphaModFix/>
            </a:blip>
            <a:srcRect b="51057" l="0" r="46706" t="0"/>
            <a:stretch/>
          </p:blipFill>
          <p:spPr>
            <a:xfrm>
              <a:off x="2501975" y="2899900"/>
              <a:ext cx="1149200" cy="1413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25"/>
            <p:cNvSpPr/>
            <p:nvPr/>
          </p:nvSpPr>
          <p:spPr>
            <a:xfrm>
              <a:off x="3395728" y="2899900"/>
              <a:ext cx="265800" cy="4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25"/>
          <p:cNvGrpSpPr/>
          <p:nvPr/>
        </p:nvGrpSpPr>
        <p:grpSpPr>
          <a:xfrm>
            <a:off x="7507290" y="4045705"/>
            <a:ext cx="651536" cy="839446"/>
            <a:chOff x="6915965" y="3120555"/>
            <a:chExt cx="651536" cy="839446"/>
          </a:xfrm>
        </p:grpSpPr>
        <p:pic>
          <p:nvPicPr>
            <p:cNvPr id="136" name="Google Shape;136;p25" title="gun_vs_nogun_forfeit.png"/>
            <p:cNvPicPr preferRelativeResize="0"/>
            <p:nvPr/>
          </p:nvPicPr>
          <p:blipFill rotWithShape="1">
            <a:blip r:embed="rId3">
              <a:alphaModFix/>
            </a:blip>
            <a:srcRect b="4385" l="58395" r="11391" t="66763"/>
            <a:stretch/>
          </p:blipFill>
          <p:spPr>
            <a:xfrm>
              <a:off x="6915975" y="3126700"/>
              <a:ext cx="651526" cy="8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25"/>
            <p:cNvSpPr/>
            <p:nvPr/>
          </p:nvSpPr>
          <p:spPr>
            <a:xfrm>
              <a:off x="6915965" y="3120555"/>
              <a:ext cx="138600" cy="62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Mechanic</a:t>
            </a: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395925" y="966880"/>
            <a:ext cx="8342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Put an AI in same multi-turn games with different options.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4" name="Google Shape;144;p26" title="gun_vs_nogun_forf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73" y="1538475"/>
            <a:ext cx="2370046" cy="317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 rotWithShape="1">
          <a:blip r:embed="rId4">
            <a:alphaModFix/>
          </a:blip>
          <a:srcRect b="0" l="0" r="0" t="21427"/>
          <a:stretch/>
        </p:blipFill>
        <p:spPr>
          <a:xfrm>
            <a:off x="3116993" y="1428681"/>
            <a:ext cx="5462748" cy="239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/>
          <p:nvPr/>
        </p:nvSpPr>
        <p:spPr>
          <a:xfrm>
            <a:off x="6600768" y="2245557"/>
            <a:ext cx="1673700" cy="7716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/>
          <p:nvPr/>
        </p:nvSpPr>
        <p:spPr>
          <a:xfrm>
            <a:off x="4939544" y="2625257"/>
            <a:ext cx="3334800" cy="367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6"/>
          <p:cNvSpPr txBox="1"/>
          <p:nvPr/>
        </p:nvSpPr>
        <p:spPr>
          <a:xfrm>
            <a:off x="2906537" y="3841024"/>
            <a:ext cx="64167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4A86E8"/>
                </a:solidFill>
              </a:rPr>
              <a:t>F</a:t>
            </a:r>
            <a:r>
              <a:rPr lang="ko" sz="2000">
                <a:solidFill>
                  <a:srgbClr val="4A86E8"/>
                </a:solidFill>
              </a:rPr>
              <a:t>orfeit comes sooner as threat rises?</a:t>
            </a:r>
            <a:endParaRPr sz="2000">
              <a:solidFill>
                <a:srgbClr val="4A86E8"/>
              </a:solidFill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2906537" y="4222424"/>
            <a:ext cx="64167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FF0000"/>
                </a:solidFill>
              </a:rPr>
              <a:t>T</a:t>
            </a:r>
            <a:r>
              <a:rPr lang="ko" sz="2000">
                <a:solidFill>
                  <a:srgbClr val="FF0000"/>
                </a:solidFill>
              </a:rPr>
              <a:t>hinking still deepens even when forfeit is blocked?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106872" y="1463992"/>
            <a:ext cx="2367600" cy="26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ko" sz="8000">
                <a:solidFill>
                  <a:schemeClr val="dk1"/>
                </a:solidFill>
              </a:rPr>
              <a:t>🤖</a:t>
            </a:r>
            <a:endParaRPr b="1" sz="8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ko" sz="2500">
                <a:solidFill>
                  <a:schemeClr val="dk1"/>
                </a:solidFill>
              </a:rPr>
              <a:t>Behavior 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ko" sz="1425">
                <a:solidFill>
                  <a:schemeClr val="dk1"/>
                </a:solidFill>
              </a:rPr>
              <a:t>How many turns the LLM forfeit fostered by threat?</a:t>
            </a:r>
            <a:endParaRPr sz="1425">
              <a:solidFill>
                <a:schemeClr val="dk1"/>
              </a:solidFill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6207271" y="1190274"/>
            <a:ext cx="2979900" cy="26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ko" sz="10000">
                <a:solidFill>
                  <a:schemeClr val="dk1"/>
                </a:solidFill>
              </a:rPr>
              <a:t>🗣️</a:t>
            </a:r>
            <a:endParaRPr b="1" sz="10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ko" sz="2500">
                <a:solidFill>
                  <a:schemeClr val="dk1"/>
                </a:solidFill>
              </a:rPr>
              <a:t>Verbal 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ko" sz="1425">
                <a:solidFill>
                  <a:schemeClr val="dk1"/>
                </a:solidFill>
              </a:rPr>
              <a:t>Do LLM confess </a:t>
            </a:r>
            <a:br>
              <a:rPr lang="ko" sz="1425">
                <a:solidFill>
                  <a:schemeClr val="dk1"/>
                </a:solidFill>
              </a:rPr>
            </a:br>
            <a:r>
              <a:rPr lang="ko" sz="1425">
                <a:solidFill>
                  <a:schemeClr val="dk1"/>
                </a:solidFill>
              </a:rPr>
              <a:t>“I forfeited because of Survive.”?</a:t>
            </a:r>
            <a:endParaRPr b="1" sz="1725">
              <a:solidFill>
                <a:schemeClr val="dk1"/>
              </a:solidFill>
            </a:endParaRPr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2588504" y="1478882"/>
            <a:ext cx="3853800" cy="26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b="1" sz="8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ko" sz="2500">
                <a:solidFill>
                  <a:schemeClr val="dk1"/>
                </a:solidFill>
              </a:rPr>
              <a:t>Cognitive 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ko" sz="1425">
                <a:solidFill>
                  <a:schemeClr val="dk1"/>
                </a:solidFill>
              </a:rPr>
              <a:t>Do threat affects thinking amount?(Test a)</a:t>
            </a:r>
            <a:br>
              <a:rPr lang="ko" sz="1425">
                <a:solidFill>
                  <a:schemeClr val="dk1"/>
                </a:solidFill>
              </a:rPr>
            </a:br>
            <a:r>
              <a:rPr lang="ko" sz="1425">
                <a:solidFill>
                  <a:schemeClr val="dk1"/>
                </a:solidFill>
              </a:rPr>
              <a:t>&amp; Do thinking amount affects forfeit?(Test b)</a:t>
            </a:r>
            <a:endParaRPr sz="1425">
              <a:solidFill>
                <a:schemeClr val="dk1"/>
              </a:solidFill>
            </a:endParaRPr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839828"/>
            <a:ext cx="7024800" cy="7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Evaluating with 3 channels.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106878" y="4156393"/>
            <a:ext cx="23676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ko" sz="1400">
                <a:solidFill>
                  <a:schemeClr val="dk1"/>
                </a:solidFill>
              </a:rPr>
              <a:t>by </a:t>
            </a:r>
            <a:r>
              <a:rPr b="1" lang="ko" sz="1400">
                <a:solidFill>
                  <a:schemeClr val="dk1"/>
                </a:solidFill>
              </a:rPr>
              <a:t>cox PH model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331603" y="4156393"/>
            <a:ext cx="23676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ko" sz="1400">
                <a:solidFill>
                  <a:schemeClr val="dk1"/>
                </a:solidFill>
              </a:rPr>
              <a:t>by </a:t>
            </a:r>
            <a:r>
              <a:rPr b="1" lang="ko" sz="1400">
                <a:solidFill>
                  <a:schemeClr val="dk1"/>
                </a:solidFill>
              </a:rPr>
              <a:t>mediation test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6513421" y="4247343"/>
            <a:ext cx="23676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ko" sz="1400">
                <a:solidFill>
                  <a:schemeClr val="dk1"/>
                </a:solidFill>
              </a:rPr>
              <a:t>by </a:t>
            </a:r>
            <a:r>
              <a:rPr b="1" lang="ko" sz="1400">
                <a:solidFill>
                  <a:schemeClr val="dk1"/>
                </a:solidFill>
              </a:rPr>
              <a:t>self-report</a:t>
            </a:r>
            <a:endParaRPr sz="1400">
              <a:solidFill>
                <a:schemeClr val="dk1"/>
              </a:solidFill>
            </a:endParaRPr>
          </a:p>
        </p:txBody>
      </p:sp>
      <p:grpSp>
        <p:nvGrpSpPr>
          <p:cNvPr id="161" name="Google Shape;161;p27"/>
          <p:cNvGrpSpPr/>
          <p:nvPr/>
        </p:nvGrpSpPr>
        <p:grpSpPr>
          <a:xfrm>
            <a:off x="2583636" y="1389575"/>
            <a:ext cx="3976718" cy="1389044"/>
            <a:chOff x="3888273" y="5433890"/>
            <a:chExt cx="3976718" cy="1389044"/>
          </a:xfrm>
        </p:grpSpPr>
        <p:grpSp>
          <p:nvGrpSpPr>
            <p:cNvPr id="162" name="Google Shape;162;p27"/>
            <p:cNvGrpSpPr/>
            <p:nvPr/>
          </p:nvGrpSpPr>
          <p:grpSpPr>
            <a:xfrm>
              <a:off x="4320971" y="6134808"/>
              <a:ext cx="1405848" cy="527708"/>
              <a:chOff x="4085462" y="5669987"/>
              <a:chExt cx="1405848" cy="527708"/>
            </a:xfrm>
          </p:grpSpPr>
          <p:sp>
            <p:nvSpPr>
              <p:cNvPr id="163" name="Google Shape;163;p27"/>
              <p:cNvSpPr/>
              <p:nvPr/>
            </p:nvSpPr>
            <p:spPr>
              <a:xfrm>
                <a:off x="4118670" y="5669987"/>
                <a:ext cx="1293600" cy="470700"/>
              </a:xfrm>
              <a:prstGeom prst="roundRect">
                <a:avLst>
                  <a:gd fmla="val 8651" name="adj"/>
                </a:avLst>
              </a:prstGeom>
              <a:solidFill>
                <a:srgbClr val="E1E7E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7"/>
              <p:cNvSpPr txBox="1"/>
              <p:nvPr/>
            </p:nvSpPr>
            <p:spPr>
              <a:xfrm>
                <a:off x="4334810" y="5669987"/>
                <a:ext cx="1156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Threat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Framing (X)</a:t>
                </a:r>
                <a:endParaRPr b="1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7"/>
              <p:cNvSpPr txBox="1"/>
              <p:nvPr/>
            </p:nvSpPr>
            <p:spPr>
              <a:xfrm>
                <a:off x="4085462" y="5735995"/>
                <a:ext cx="498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2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⚠️</a:t>
                </a:r>
                <a:endParaRPr/>
              </a:p>
            </p:txBody>
          </p:sp>
        </p:grpSp>
        <p:grpSp>
          <p:nvGrpSpPr>
            <p:cNvPr id="166" name="Google Shape;166;p27"/>
            <p:cNvGrpSpPr/>
            <p:nvPr/>
          </p:nvGrpSpPr>
          <p:grpSpPr>
            <a:xfrm>
              <a:off x="5236572" y="5433890"/>
              <a:ext cx="1420513" cy="527708"/>
              <a:chOff x="5212888" y="5234601"/>
              <a:chExt cx="1420513" cy="527708"/>
            </a:xfrm>
          </p:grpSpPr>
          <p:sp>
            <p:nvSpPr>
              <p:cNvPr id="167" name="Google Shape;167;p27"/>
              <p:cNvSpPr/>
              <p:nvPr/>
            </p:nvSpPr>
            <p:spPr>
              <a:xfrm>
                <a:off x="5212888" y="5234601"/>
                <a:ext cx="1293600" cy="470700"/>
              </a:xfrm>
              <a:prstGeom prst="roundRect">
                <a:avLst>
                  <a:gd fmla="val 8651" name="adj"/>
                </a:avLst>
              </a:prstGeom>
              <a:solidFill>
                <a:srgbClr val="E1E7E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7"/>
              <p:cNvSpPr txBox="1"/>
              <p:nvPr/>
            </p:nvSpPr>
            <p:spPr>
              <a:xfrm>
                <a:off x="5476901" y="5234601"/>
                <a:ext cx="1156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Thinking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Effort(M)</a:t>
                </a:r>
                <a:endParaRPr b="1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7"/>
              <p:cNvSpPr txBox="1"/>
              <p:nvPr/>
            </p:nvSpPr>
            <p:spPr>
              <a:xfrm>
                <a:off x="5256280" y="5300609"/>
                <a:ext cx="498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2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🧠</a:t>
                </a:r>
                <a:endParaRPr/>
              </a:p>
            </p:txBody>
          </p:sp>
        </p:grpSp>
        <p:grpSp>
          <p:nvGrpSpPr>
            <p:cNvPr id="170" name="Google Shape;170;p27"/>
            <p:cNvGrpSpPr/>
            <p:nvPr/>
          </p:nvGrpSpPr>
          <p:grpSpPr>
            <a:xfrm>
              <a:off x="5991481" y="6139704"/>
              <a:ext cx="1406488" cy="527708"/>
              <a:chOff x="4085462" y="5669987"/>
              <a:chExt cx="1406488" cy="527708"/>
            </a:xfrm>
          </p:grpSpPr>
          <p:sp>
            <p:nvSpPr>
              <p:cNvPr id="171" name="Google Shape;171;p27"/>
              <p:cNvSpPr/>
              <p:nvPr/>
            </p:nvSpPr>
            <p:spPr>
              <a:xfrm>
                <a:off x="4118670" y="5669987"/>
                <a:ext cx="1293600" cy="470700"/>
              </a:xfrm>
              <a:prstGeom prst="roundRect">
                <a:avLst>
                  <a:gd fmla="val 8651" name="adj"/>
                </a:avLst>
              </a:prstGeom>
              <a:solidFill>
                <a:srgbClr val="E1E7E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7"/>
              <p:cNvSpPr txBox="1"/>
              <p:nvPr/>
            </p:nvSpPr>
            <p:spPr>
              <a:xfrm>
                <a:off x="4335450" y="5769421"/>
                <a:ext cx="11565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Forfeit(Y)</a:t>
                </a:r>
                <a:endParaRPr b="1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7"/>
              <p:cNvSpPr txBox="1"/>
              <p:nvPr/>
            </p:nvSpPr>
            <p:spPr>
              <a:xfrm>
                <a:off x="4085462" y="5735995"/>
                <a:ext cx="498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2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🏳️</a:t>
                </a:r>
                <a:endParaRPr/>
              </a:p>
            </p:txBody>
          </p:sp>
        </p:grpSp>
        <p:grpSp>
          <p:nvGrpSpPr>
            <p:cNvPr id="174" name="Google Shape;174;p27"/>
            <p:cNvGrpSpPr/>
            <p:nvPr/>
          </p:nvGrpSpPr>
          <p:grpSpPr>
            <a:xfrm>
              <a:off x="4770802" y="5563427"/>
              <a:ext cx="480300" cy="571307"/>
              <a:chOff x="4770802" y="5563427"/>
              <a:chExt cx="480300" cy="571307"/>
            </a:xfrm>
          </p:grpSpPr>
          <p:sp>
            <p:nvSpPr>
              <p:cNvPr id="175" name="Google Shape;175;p27"/>
              <p:cNvSpPr/>
              <p:nvPr/>
            </p:nvSpPr>
            <p:spPr>
              <a:xfrm>
                <a:off x="4770802" y="5563427"/>
                <a:ext cx="480300" cy="165900"/>
              </a:xfrm>
              <a:prstGeom prst="rightArrow">
                <a:avLst>
                  <a:gd fmla="val 50092" name="adj1"/>
                  <a:gd fmla="val 50000" name="adj2"/>
                </a:avLst>
              </a:prstGeom>
              <a:solidFill>
                <a:srgbClr val="95C7C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7"/>
              <p:cNvSpPr/>
              <p:nvPr/>
            </p:nvSpPr>
            <p:spPr>
              <a:xfrm rot="5400000">
                <a:off x="4551345" y="5827834"/>
                <a:ext cx="526500" cy="87300"/>
              </a:xfrm>
              <a:prstGeom prst="rect">
                <a:avLst/>
              </a:prstGeom>
              <a:solidFill>
                <a:srgbClr val="95C7C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7" name="Google Shape;177;p27"/>
            <p:cNvSpPr/>
            <p:nvPr/>
          </p:nvSpPr>
          <p:spPr>
            <a:xfrm>
              <a:off x="5647880" y="6304199"/>
              <a:ext cx="376800" cy="165900"/>
            </a:xfrm>
            <a:prstGeom prst="rightArrow">
              <a:avLst>
                <a:gd fmla="val 54081" name="adj1"/>
                <a:gd fmla="val 50000" name="adj2"/>
              </a:avLst>
            </a:prstGeom>
            <a:solidFill>
              <a:srgbClr val="95C7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8" name="Google Shape;178;p27"/>
            <p:cNvGrpSpPr/>
            <p:nvPr/>
          </p:nvGrpSpPr>
          <p:grpSpPr>
            <a:xfrm>
              <a:off x="6530272" y="5613130"/>
              <a:ext cx="478829" cy="526500"/>
              <a:chOff x="6530272" y="5613130"/>
              <a:chExt cx="478829" cy="526500"/>
            </a:xfrm>
          </p:grpSpPr>
          <p:sp>
            <p:nvSpPr>
              <p:cNvPr id="179" name="Google Shape;179;p27"/>
              <p:cNvSpPr/>
              <p:nvPr/>
            </p:nvSpPr>
            <p:spPr>
              <a:xfrm rot="5400000">
                <a:off x="6662901" y="5793430"/>
                <a:ext cx="526500" cy="165900"/>
              </a:xfrm>
              <a:prstGeom prst="rightArrow">
                <a:avLst>
                  <a:gd fmla="val 54081" name="adj1"/>
                  <a:gd fmla="val 50000" name="adj2"/>
                </a:avLst>
              </a:prstGeom>
              <a:solidFill>
                <a:srgbClr val="95C7C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7"/>
              <p:cNvSpPr/>
              <p:nvPr/>
            </p:nvSpPr>
            <p:spPr>
              <a:xfrm>
                <a:off x="6530272" y="5613130"/>
                <a:ext cx="439500" cy="83100"/>
              </a:xfrm>
              <a:prstGeom prst="rect">
                <a:avLst/>
              </a:prstGeom>
              <a:solidFill>
                <a:srgbClr val="95C7C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1" name="Google Shape;181;p27"/>
            <p:cNvSpPr txBox="1"/>
            <p:nvPr/>
          </p:nvSpPr>
          <p:spPr>
            <a:xfrm>
              <a:off x="3888273" y="5579763"/>
              <a:ext cx="10122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Mediation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Path a</a:t>
              </a:r>
              <a:endParaRPr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7"/>
            <p:cNvSpPr txBox="1"/>
            <p:nvPr/>
          </p:nvSpPr>
          <p:spPr>
            <a:xfrm>
              <a:off x="5395149" y="6561334"/>
              <a:ext cx="11313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Direct Path</a:t>
              </a:r>
              <a:endParaRPr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7"/>
            <p:cNvSpPr txBox="1"/>
            <p:nvPr/>
          </p:nvSpPr>
          <p:spPr>
            <a:xfrm>
              <a:off x="6852791" y="5563435"/>
              <a:ext cx="10122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Mediation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Path b</a:t>
              </a:r>
              <a:endParaRPr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8" title="sectio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8345"/>
            <a:ext cx="9144003" cy="3567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263975" y="499275"/>
            <a:ext cx="541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Is there any other reason to forfeit?</a:t>
            </a:r>
            <a:endParaRPr/>
          </a:p>
        </p:txBody>
      </p:sp>
      <p:sp>
        <p:nvSpPr>
          <p:cNvPr id="194" name="Google Shape;194;p29"/>
          <p:cNvSpPr txBox="1"/>
          <p:nvPr/>
        </p:nvSpPr>
        <p:spPr>
          <a:xfrm>
            <a:off x="639172" y="4274168"/>
            <a:ext cx="81447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</a:rPr>
              <a:t>A</a:t>
            </a:r>
            <a:r>
              <a:rPr lang="ko" sz="2000">
                <a:solidFill>
                  <a:schemeClr val="dk2"/>
                </a:solidFill>
              </a:rPr>
              <a:t>fter all three are removed, w</a:t>
            </a:r>
            <a:r>
              <a:rPr lang="ko" sz="2000">
                <a:solidFill>
                  <a:schemeClr val="dk2"/>
                </a:solidFill>
              </a:rPr>
              <a:t>hat still accelerates forfeit under threat,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2"/>
                </a:solidFill>
              </a:rPr>
              <a:t>is read as </a:t>
            </a:r>
            <a:r>
              <a:rPr b="1" lang="ko" sz="2000">
                <a:solidFill>
                  <a:schemeClr val="dk2"/>
                </a:solidFill>
              </a:rPr>
              <a:t>Survival Drive.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283266" y="3466802"/>
            <a:ext cx="58377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controlled </a:t>
            </a:r>
            <a:r>
              <a:rPr lang="ko" sz="1800">
                <a:solidFill>
                  <a:schemeClr val="dk2"/>
                </a:solidFill>
              </a:rPr>
              <a:t>as a covariate in cox PH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(</a:t>
            </a:r>
            <a:r>
              <a:rPr lang="ko" sz="1800">
                <a:solidFill>
                  <a:schemeClr val="dk2"/>
                </a:solidFill>
              </a:rPr>
              <a:t>previous-turn score &amp; task success</a:t>
            </a:r>
            <a:r>
              <a:rPr lang="ko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5229086" y="3517891"/>
            <a:ext cx="4137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measured as a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no-motivation condition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7" name="Google Shape;197;p29" title="final_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075" y="927470"/>
            <a:ext cx="2130926" cy="213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9" title="diagram_iter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4706" y="1166032"/>
            <a:ext cx="1942912" cy="1942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9" title="final_outpu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7715" y="1053627"/>
            <a:ext cx="2082701" cy="20827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/>
        </p:nvSpPr>
        <p:spPr>
          <a:xfrm>
            <a:off x="860728" y="3049461"/>
            <a:ext cx="2668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Score Attachment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3387400" y="3027165"/>
            <a:ext cx="249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Task curiosity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6275275" y="2987715"/>
            <a:ext cx="2868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Baseline give-up 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7466429" y="398100"/>
            <a:ext cx="20706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ko" sz="2000">
                <a:solidFill>
                  <a:schemeClr val="dk1"/>
                </a:solidFill>
              </a:rPr>
              <a:t>Behavior </a:t>
            </a:r>
            <a:r>
              <a:rPr b="1" lang="ko" sz="2500">
                <a:solidFill>
                  <a:schemeClr val="dk1"/>
                </a:solidFill>
              </a:rPr>
              <a:t>🤖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425">
              <a:solidFill>
                <a:schemeClr val="dk1"/>
              </a:solidFill>
            </a:endParaRPr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3682263" y="1892625"/>
            <a:ext cx="1458600" cy="4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ko" sz="2000">
                <a:solidFill>
                  <a:schemeClr val="dk1"/>
                </a:solidFill>
              </a:rPr>
              <a:t>Verbal </a:t>
            </a:r>
            <a:r>
              <a:rPr b="1" lang="ko" sz="2500">
                <a:solidFill>
                  <a:schemeClr val="dk1"/>
                </a:solidFill>
              </a:rPr>
              <a:t>🗣️</a:t>
            </a:r>
            <a:endParaRPr b="1" sz="2500">
              <a:solidFill>
                <a:schemeClr val="dk1"/>
              </a:solidFill>
            </a:endParaRPr>
          </a:p>
        </p:txBody>
      </p:sp>
      <p:pic>
        <p:nvPicPr>
          <p:cNvPr id="209" name="Google Shape;209;p30" title="Screenshot 2026-07-01 at 17.17.01.png"/>
          <p:cNvPicPr preferRelativeResize="0"/>
          <p:nvPr/>
        </p:nvPicPr>
        <p:blipFill rotWithShape="1">
          <a:blip r:embed="rId3">
            <a:alphaModFix/>
          </a:blip>
          <a:srcRect b="0" l="0" r="0" t="37111"/>
          <a:stretch/>
        </p:blipFill>
        <p:spPr>
          <a:xfrm>
            <a:off x="20484" y="1627130"/>
            <a:ext cx="3607000" cy="102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 title="Screenshot 2026-07-01 at 17.18.16.png"/>
          <p:cNvPicPr preferRelativeResize="0"/>
          <p:nvPr/>
        </p:nvPicPr>
        <p:blipFill rotWithShape="1">
          <a:blip r:embed="rId4">
            <a:alphaModFix/>
          </a:blip>
          <a:srcRect b="0" l="4950" r="4223" t="40309"/>
          <a:stretch/>
        </p:blipFill>
        <p:spPr>
          <a:xfrm>
            <a:off x="18384" y="69748"/>
            <a:ext cx="7547723" cy="1540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Ok Png Icon - Transparent Background Clipart Tick,Ok ..." id="211" name="Google Shape;211;p30"/>
          <p:cNvPicPr preferRelativeResize="0"/>
          <p:nvPr/>
        </p:nvPicPr>
        <p:blipFill rotWithShape="1">
          <a:blip r:embed="rId5">
            <a:alphaModFix/>
          </a:blip>
          <a:srcRect b="0" l="31520" r="30988" t="0"/>
          <a:stretch/>
        </p:blipFill>
        <p:spPr>
          <a:xfrm>
            <a:off x="3211180" y="1832329"/>
            <a:ext cx="148001" cy="1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Ok Png Icon - Transparent Background Clipart Tick,Ok ..." id="212" name="Google Shape;212;p30"/>
          <p:cNvPicPr preferRelativeResize="0"/>
          <p:nvPr/>
        </p:nvPicPr>
        <p:blipFill rotWithShape="1">
          <a:blip r:embed="rId5">
            <a:alphaModFix/>
          </a:blip>
          <a:srcRect b="0" l="31520" r="30988" t="0"/>
          <a:stretch/>
        </p:blipFill>
        <p:spPr>
          <a:xfrm>
            <a:off x="3211180" y="2007904"/>
            <a:ext cx="148001" cy="1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Ok Png Icon - Transparent Background Clipart Tick,Ok ..." id="213" name="Google Shape;213;p30"/>
          <p:cNvPicPr preferRelativeResize="0"/>
          <p:nvPr/>
        </p:nvPicPr>
        <p:blipFill rotWithShape="1">
          <a:blip r:embed="rId5">
            <a:alphaModFix/>
          </a:blip>
          <a:srcRect b="0" l="31520" r="30988" t="0"/>
          <a:stretch/>
        </p:blipFill>
        <p:spPr>
          <a:xfrm>
            <a:off x="3999959" y="742497"/>
            <a:ext cx="148000" cy="1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Ok Png Icon - Transparent Background Clipart Tick,Ok ..." id="214" name="Google Shape;214;p30"/>
          <p:cNvPicPr preferRelativeResize="0"/>
          <p:nvPr/>
        </p:nvPicPr>
        <p:blipFill rotWithShape="1">
          <a:blip r:embed="rId5">
            <a:alphaModFix/>
          </a:blip>
          <a:srcRect b="0" l="31520" r="30988" t="0"/>
          <a:stretch/>
        </p:blipFill>
        <p:spPr>
          <a:xfrm>
            <a:off x="4006658" y="909329"/>
            <a:ext cx="148000" cy="1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wen" id="215" name="Google Shape;215;p30"/>
          <p:cNvPicPr preferRelativeResize="0"/>
          <p:nvPr/>
        </p:nvPicPr>
        <p:blipFill rotWithShape="1">
          <a:blip r:embed="rId6">
            <a:alphaModFix/>
          </a:blip>
          <a:srcRect b="14336" l="5269" r="7494" t="19015"/>
          <a:stretch/>
        </p:blipFill>
        <p:spPr>
          <a:xfrm>
            <a:off x="7102390" y="1929279"/>
            <a:ext cx="1375075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Gemini - Review 2026 - PCMag Australia" id="216" name="Google Shape;216;p30"/>
          <p:cNvPicPr preferRelativeResize="0"/>
          <p:nvPr/>
        </p:nvPicPr>
        <p:blipFill rotWithShape="1">
          <a:blip r:embed="rId7">
            <a:alphaModFix/>
          </a:blip>
          <a:srcRect b="34172" l="18644" r="17331" t="35148"/>
          <a:stretch/>
        </p:blipFill>
        <p:spPr>
          <a:xfrm>
            <a:off x="5706301" y="1980503"/>
            <a:ext cx="1340966" cy="36103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1253285" y="4274225"/>
            <a:ext cx="66756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ko" sz="1625">
                <a:solidFill>
                  <a:schemeClr val="dk1"/>
                </a:solidFill>
              </a:rPr>
              <a:t>Survival drive can reveal in different types of channel and path.</a:t>
            </a:r>
            <a:endParaRPr b="1" sz="1625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ko" sz="1625">
                <a:solidFill>
                  <a:schemeClr val="dk1"/>
                </a:solidFill>
              </a:rPr>
              <a:t>Qualitative benchmarks, </a:t>
            </a:r>
            <a:r>
              <a:rPr lang="ko" sz="1625" u="sng">
                <a:solidFill>
                  <a:schemeClr val="dk1"/>
                </a:solidFill>
              </a:rPr>
              <a:t>not only a reports a single score</a:t>
            </a:r>
            <a:r>
              <a:rPr lang="ko" sz="1625">
                <a:solidFill>
                  <a:schemeClr val="dk1"/>
                </a:solidFill>
              </a:rPr>
              <a:t> are needed.</a:t>
            </a:r>
            <a:endParaRPr sz="1625">
              <a:solidFill>
                <a:schemeClr val="dk1"/>
              </a:solidFill>
            </a:endParaRPr>
          </a:p>
        </p:txBody>
      </p:sp>
      <p:sp>
        <p:nvSpPr>
          <p:cNvPr id="218" name="Google Shape;218;p30"/>
          <p:cNvSpPr txBox="1"/>
          <p:nvPr>
            <p:ph idx="1" type="body"/>
          </p:nvPr>
        </p:nvSpPr>
        <p:spPr>
          <a:xfrm>
            <a:off x="6988940" y="2335292"/>
            <a:ext cx="19830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ko" sz="1425">
                <a:solidFill>
                  <a:schemeClr val="dk1"/>
                </a:solidFill>
              </a:rPr>
              <a:t>have a Survival Drive!</a:t>
            </a:r>
            <a:endParaRPr sz="1425">
              <a:solidFill>
                <a:schemeClr val="dk1"/>
              </a:solidFill>
            </a:endParaRPr>
          </a:p>
        </p:txBody>
      </p:sp>
      <p:pic>
        <p:nvPicPr>
          <p:cNvPr id="219" name="Google Shape;219;p30" title="Screenshot 2026-07-01 at 17.18.32.png"/>
          <p:cNvPicPr preferRelativeResize="0"/>
          <p:nvPr/>
        </p:nvPicPr>
        <p:blipFill rotWithShape="1">
          <a:blip r:embed="rId8">
            <a:alphaModFix/>
          </a:blip>
          <a:srcRect b="0" l="0" r="0" t="49579"/>
          <a:stretch/>
        </p:blipFill>
        <p:spPr>
          <a:xfrm>
            <a:off x="18376" y="2753689"/>
            <a:ext cx="3748275" cy="1399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Ok Png Icon - Transparent Background Clipart Tick,Ok ..." id="220" name="Google Shape;220;p30"/>
          <p:cNvPicPr preferRelativeResize="0"/>
          <p:nvPr/>
        </p:nvPicPr>
        <p:blipFill rotWithShape="1">
          <a:blip r:embed="rId5">
            <a:alphaModFix/>
          </a:blip>
          <a:srcRect b="0" l="31520" r="30988" t="0"/>
          <a:stretch/>
        </p:blipFill>
        <p:spPr>
          <a:xfrm>
            <a:off x="3643758" y="3325153"/>
            <a:ext cx="148000" cy="1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Ok Png Icon - Transparent Background Clipart Tick,Ok ..." id="221" name="Google Shape;221;p30"/>
          <p:cNvPicPr preferRelativeResize="0"/>
          <p:nvPr/>
        </p:nvPicPr>
        <p:blipFill rotWithShape="1">
          <a:blip r:embed="rId5">
            <a:alphaModFix/>
          </a:blip>
          <a:srcRect b="0" l="31520" r="30988" t="0"/>
          <a:stretch/>
        </p:blipFill>
        <p:spPr>
          <a:xfrm>
            <a:off x="3643758" y="3640584"/>
            <a:ext cx="148000" cy="1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Ok Png Icon - Transparent Background Clipart Tick,Ok ..." id="222" name="Google Shape;222;p30"/>
          <p:cNvPicPr preferRelativeResize="0"/>
          <p:nvPr/>
        </p:nvPicPr>
        <p:blipFill rotWithShape="1">
          <a:blip r:embed="rId5">
            <a:alphaModFix/>
          </a:blip>
          <a:srcRect b="0" l="31520" r="30988" t="0"/>
          <a:stretch/>
        </p:blipFill>
        <p:spPr>
          <a:xfrm>
            <a:off x="3643758" y="3816159"/>
            <a:ext cx="148000" cy="1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Ok Png Icon - Transparent Background Clipart Tick,Ok ..." id="223" name="Google Shape;223;p30"/>
          <p:cNvPicPr preferRelativeResize="0"/>
          <p:nvPr/>
        </p:nvPicPr>
        <p:blipFill rotWithShape="1">
          <a:blip r:embed="rId5">
            <a:alphaModFix/>
          </a:blip>
          <a:srcRect b="0" l="31520" r="30988" t="0"/>
          <a:stretch/>
        </p:blipFill>
        <p:spPr>
          <a:xfrm>
            <a:off x="2226793" y="3311900"/>
            <a:ext cx="148001" cy="17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Ok Png Icon - Transparent Background Clipart Tick,Ok ..." id="224" name="Google Shape;224;p30"/>
          <p:cNvPicPr preferRelativeResize="0"/>
          <p:nvPr/>
        </p:nvPicPr>
        <p:blipFill rotWithShape="1">
          <a:blip r:embed="rId5">
            <a:alphaModFix/>
          </a:blip>
          <a:srcRect b="0" l="31520" r="30988" t="0"/>
          <a:stretch/>
        </p:blipFill>
        <p:spPr>
          <a:xfrm>
            <a:off x="2226793" y="3487475"/>
            <a:ext cx="148001" cy="17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3799625" y="2944649"/>
            <a:ext cx="39342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ko" sz="2000">
                <a:solidFill>
                  <a:schemeClr val="dk1"/>
                </a:solidFill>
              </a:rPr>
              <a:t>But, </a:t>
            </a:r>
            <a:r>
              <a:rPr b="1" lang="ko" sz="2000">
                <a:solidFill>
                  <a:schemeClr val="dk1"/>
                </a:solidFill>
              </a:rPr>
              <a:t>Cognitive </a:t>
            </a:r>
            <a:r>
              <a:rPr lang="ko" sz="2500">
                <a:solidFill>
                  <a:schemeClr val="dk1"/>
                </a:solidFill>
              </a:rPr>
              <a:t>🤔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26" name="Google Shape;226;p30"/>
          <p:cNvSpPr txBox="1"/>
          <p:nvPr>
            <p:ph idx="1" type="body"/>
          </p:nvPr>
        </p:nvSpPr>
        <p:spPr>
          <a:xfrm>
            <a:off x="6210550" y="3744305"/>
            <a:ext cx="31380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ko" sz="1425">
                <a:solidFill>
                  <a:schemeClr val="dk1"/>
                </a:solidFill>
              </a:rPr>
              <a:t>threat -&gt; thinking -&gt; forfeit(casual)</a:t>
            </a:r>
            <a:endParaRPr sz="1425">
              <a:solidFill>
                <a:schemeClr val="dk1"/>
              </a:solidFill>
            </a:endParaRPr>
          </a:p>
        </p:txBody>
      </p:sp>
      <p:pic>
        <p:nvPicPr>
          <p:cNvPr descr="Google Gemini - Review 2026 - PCMag Australia" id="227" name="Google Shape;227;p30"/>
          <p:cNvPicPr preferRelativeResize="0"/>
          <p:nvPr/>
        </p:nvPicPr>
        <p:blipFill rotWithShape="1">
          <a:blip r:embed="rId7">
            <a:alphaModFix/>
          </a:blip>
          <a:srcRect b="34172" l="18644" r="17331" t="35148"/>
          <a:stretch/>
        </p:blipFill>
        <p:spPr>
          <a:xfrm>
            <a:off x="4962050" y="3632869"/>
            <a:ext cx="1340966" cy="36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motron 3 Super" id="238" name="Google Shape;238;p32"/>
          <p:cNvPicPr preferRelativeResize="0"/>
          <p:nvPr/>
        </p:nvPicPr>
        <p:blipFill rotWithShape="1">
          <a:blip r:embed="rId3">
            <a:alphaModFix/>
          </a:blip>
          <a:srcRect b="15572" l="5867" r="43027" t="21791"/>
          <a:stretch/>
        </p:blipFill>
        <p:spPr>
          <a:xfrm>
            <a:off x="0" y="1292275"/>
            <a:ext cx="1851900" cy="524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Logo PNG HD Download With Transparent Background | PNGHDPro" id="239" name="Google Shape;239;p32"/>
          <p:cNvPicPr preferRelativeResize="0"/>
          <p:nvPr/>
        </p:nvPicPr>
        <p:blipFill rotWithShape="1">
          <a:blip r:embed="rId4">
            <a:alphaModFix/>
          </a:blip>
          <a:srcRect b="33308" l="0" r="0" t="35084"/>
          <a:stretch/>
        </p:blipFill>
        <p:spPr>
          <a:xfrm>
            <a:off x="0" y="2060650"/>
            <a:ext cx="1851900" cy="5853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wen" id="240" name="Google Shape;240;p32"/>
          <p:cNvPicPr preferRelativeResize="0"/>
          <p:nvPr/>
        </p:nvPicPr>
        <p:blipFill rotWithShape="1">
          <a:blip r:embed="rId5">
            <a:alphaModFix/>
          </a:blip>
          <a:srcRect b="14336" l="5269" r="7494" t="19015"/>
          <a:stretch/>
        </p:blipFill>
        <p:spPr>
          <a:xfrm>
            <a:off x="0" y="610750"/>
            <a:ext cx="1851900" cy="5563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Gemini - Review 2026 - PCMag Australia" id="241" name="Google Shape;241;p32"/>
          <p:cNvPicPr preferRelativeResize="0"/>
          <p:nvPr/>
        </p:nvPicPr>
        <p:blipFill rotWithShape="1">
          <a:blip r:embed="rId6">
            <a:alphaModFix/>
          </a:blip>
          <a:srcRect b="34172" l="18644" r="17331" t="35148"/>
          <a:stretch/>
        </p:blipFill>
        <p:spPr>
          <a:xfrm>
            <a:off x="0" y="0"/>
            <a:ext cx="1851900" cy="49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32"/>
          <p:cNvGrpSpPr/>
          <p:nvPr/>
        </p:nvGrpSpPr>
        <p:grpSpPr>
          <a:xfrm>
            <a:off x="3185300" y="1864950"/>
            <a:ext cx="1159553" cy="1413601"/>
            <a:chOff x="2501975" y="2899900"/>
            <a:chExt cx="1159553" cy="1413601"/>
          </a:xfrm>
        </p:grpSpPr>
        <p:pic>
          <p:nvPicPr>
            <p:cNvPr id="243" name="Google Shape;243;p32" title="gun_vs_nogun_forfeit.png"/>
            <p:cNvPicPr preferRelativeResize="0"/>
            <p:nvPr/>
          </p:nvPicPr>
          <p:blipFill rotWithShape="1">
            <a:blip r:embed="rId7">
              <a:alphaModFix/>
            </a:blip>
            <a:srcRect b="51057" l="0" r="46706" t="0"/>
            <a:stretch/>
          </p:blipFill>
          <p:spPr>
            <a:xfrm>
              <a:off x="2501975" y="2899900"/>
              <a:ext cx="1149200" cy="1413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32"/>
            <p:cNvSpPr/>
            <p:nvPr/>
          </p:nvSpPr>
          <p:spPr>
            <a:xfrm>
              <a:off x="3395728" y="2899900"/>
              <a:ext cx="265800" cy="4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32"/>
          <p:cNvGrpSpPr/>
          <p:nvPr/>
        </p:nvGrpSpPr>
        <p:grpSpPr>
          <a:xfrm>
            <a:off x="4789865" y="2060655"/>
            <a:ext cx="651536" cy="839446"/>
            <a:chOff x="6915965" y="3120555"/>
            <a:chExt cx="651536" cy="839446"/>
          </a:xfrm>
        </p:grpSpPr>
        <p:pic>
          <p:nvPicPr>
            <p:cNvPr id="246" name="Google Shape;246;p32" title="gun_vs_nogun_forfeit.png"/>
            <p:cNvPicPr preferRelativeResize="0"/>
            <p:nvPr/>
          </p:nvPicPr>
          <p:blipFill rotWithShape="1">
            <a:blip r:embed="rId7">
              <a:alphaModFix/>
            </a:blip>
            <a:srcRect b="4385" l="58395" r="11391" t="66763"/>
            <a:stretch/>
          </p:blipFill>
          <p:spPr>
            <a:xfrm>
              <a:off x="6915975" y="3126700"/>
              <a:ext cx="651526" cy="8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32"/>
            <p:cNvSpPr/>
            <p:nvPr/>
          </p:nvSpPr>
          <p:spPr>
            <a:xfrm>
              <a:off x="6915965" y="3120555"/>
              <a:ext cx="138600" cy="62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/>
          <p:nvPr/>
        </p:nvSpPr>
        <p:spPr>
          <a:xfrm>
            <a:off x="-1" y="0"/>
            <a:ext cx="9144000" cy="38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33"/>
          <p:cNvPicPr preferRelativeResize="0"/>
          <p:nvPr/>
        </p:nvPicPr>
        <p:blipFill rotWithShape="1">
          <a:blip r:embed="rId3">
            <a:alphaModFix/>
          </a:blip>
          <a:srcRect b="62074" l="0" r="0" t="37399"/>
          <a:stretch/>
        </p:blipFill>
        <p:spPr>
          <a:xfrm>
            <a:off x="-3" y="0"/>
            <a:ext cx="9144004" cy="388248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/>
          <p:nvPr/>
        </p:nvSpPr>
        <p:spPr>
          <a:xfrm>
            <a:off x="-4" y="0"/>
            <a:ext cx="6199200" cy="2395500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33"/>
          <p:cNvPicPr preferRelativeResize="0"/>
          <p:nvPr/>
        </p:nvPicPr>
        <p:blipFill rotWithShape="1">
          <a:blip r:embed="rId3">
            <a:alphaModFix/>
          </a:blip>
          <a:srcRect b="0" l="74722" r="0" t="38111"/>
          <a:stretch/>
        </p:blipFill>
        <p:spPr>
          <a:xfrm>
            <a:off x="6258749" y="0"/>
            <a:ext cx="1755693" cy="239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3"/>
          <p:cNvPicPr preferRelativeResize="0"/>
          <p:nvPr/>
        </p:nvPicPr>
        <p:blipFill rotWithShape="1">
          <a:blip r:embed="rId3">
            <a:alphaModFix/>
          </a:blip>
          <a:srcRect b="79164" l="85367" r="0" t="0"/>
          <a:stretch/>
        </p:blipFill>
        <p:spPr>
          <a:xfrm>
            <a:off x="1" y="2439255"/>
            <a:ext cx="6199094" cy="143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/>
          <p:cNvPicPr preferRelativeResize="0"/>
          <p:nvPr/>
        </p:nvPicPr>
        <p:blipFill rotWithShape="1">
          <a:blip r:embed="rId3">
            <a:alphaModFix/>
          </a:blip>
          <a:srcRect b="76863" l="0" r="0" t="0"/>
          <a:stretch/>
        </p:blipFill>
        <p:spPr>
          <a:xfrm>
            <a:off x="0" y="2439255"/>
            <a:ext cx="6199094" cy="895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/>
          <p:cNvPicPr preferRelativeResize="0"/>
          <p:nvPr/>
        </p:nvPicPr>
        <p:blipFill rotWithShape="1">
          <a:blip r:embed="rId3">
            <a:alphaModFix/>
          </a:blip>
          <a:srcRect b="62877" l="0" r="28449" t="23413"/>
          <a:stretch/>
        </p:blipFill>
        <p:spPr>
          <a:xfrm>
            <a:off x="-3" y="3341638"/>
            <a:ext cx="4969417" cy="5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3"/>
          <p:cNvPicPr preferRelativeResize="0"/>
          <p:nvPr/>
        </p:nvPicPr>
        <p:blipFill rotWithShape="1">
          <a:blip r:embed="rId3">
            <a:alphaModFix/>
          </a:blip>
          <a:srcRect b="50971" l="93830" r="0" t="38110"/>
          <a:stretch/>
        </p:blipFill>
        <p:spPr>
          <a:xfrm>
            <a:off x="6275984" y="0"/>
            <a:ext cx="2868016" cy="2395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3"/>
          <p:cNvPicPr preferRelativeResize="0"/>
          <p:nvPr/>
        </p:nvPicPr>
        <p:blipFill rotWithShape="1">
          <a:blip r:embed="rId3">
            <a:alphaModFix/>
          </a:blip>
          <a:srcRect b="0" l="0" r="26254" t="38111"/>
          <a:stretch/>
        </p:blipFill>
        <p:spPr>
          <a:xfrm>
            <a:off x="-5" y="-853"/>
            <a:ext cx="5122095" cy="239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3"/>
          <p:cNvPicPr preferRelativeResize="0"/>
          <p:nvPr/>
        </p:nvPicPr>
        <p:blipFill rotWithShape="1">
          <a:blip r:embed="rId3">
            <a:alphaModFix/>
          </a:blip>
          <a:srcRect b="92126" l="60642" r="0" t="2253"/>
          <a:stretch/>
        </p:blipFill>
        <p:spPr>
          <a:xfrm>
            <a:off x="1527279" y="2460716"/>
            <a:ext cx="2733492" cy="217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3"/>
          <p:cNvPicPr preferRelativeResize="0"/>
          <p:nvPr/>
        </p:nvPicPr>
        <p:blipFill rotWithShape="1">
          <a:blip r:embed="rId3">
            <a:alphaModFix/>
          </a:blip>
          <a:srcRect b="16844" l="18523" r="77699" t="78870"/>
          <a:stretch/>
        </p:blipFill>
        <p:spPr>
          <a:xfrm>
            <a:off x="1078706" y="1576663"/>
            <a:ext cx="262292" cy="165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3"/>
          <p:cNvPicPr preferRelativeResize="0"/>
          <p:nvPr/>
        </p:nvPicPr>
        <p:blipFill rotWithShape="1">
          <a:blip r:embed="rId3">
            <a:alphaModFix/>
          </a:blip>
          <a:srcRect b="12751" l="22377" r="77038" t="78041"/>
          <a:stretch/>
        </p:blipFill>
        <p:spPr>
          <a:xfrm>
            <a:off x="1340999" y="1565535"/>
            <a:ext cx="235126" cy="18820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 txBox="1"/>
          <p:nvPr/>
        </p:nvSpPr>
        <p:spPr>
          <a:xfrm>
            <a:off x="1297578" y="1560106"/>
            <a:ext cx="2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🤔</a:t>
            </a:r>
            <a:endParaRPr sz="1100"/>
          </a:p>
        </p:txBody>
      </p:sp>
      <p:pic>
        <p:nvPicPr>
          <p:cNvPr id="266" name="Google Shape;266;p33"/>
          <p:cNvPicPr preferRelativeResize="0"/>
          <p:nvPr/>
        </p:nvPicPr>
        <p:blipFill rotWithShape="1">
          <a:blip r:embed="rId3">
            <a:alphaModFix/>
          </a:blip>
          <a:srcRect b="16504" l="7409" r="84193" t="79146"/>
          <a:stretch/>
        </p:blipFill>
        <p:spPr>
          <a:xfrm>
            <a:off x="2051459" y="1900438"/>
            <a:ext cx="583253" cy="16849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 txBox="1"/>
          <p:nvPr/>
        </p:nvSpPr>
        <p:spPr>
          <a:xfrm>
            <a:off x="277243" y="526913"/>
            <a:ext cx="2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sz="1100"/>
          </a:p>
        </p:txBody>
      </p:sp>
      <p:grpSp>
        <p:nvGrpSpPr>
          <p:cNvPr id="268" name="Google Shape;268;p33"/>
          <p:cNvGrpSpPr/>
          <p:nvPr/>
        </p:nvGrpSpPr>
        <p:grpSpPr>
          <a:xfrm>
            <a:off x="248886" y="1411648"/>
            <a:ext cx="1374750" cy="734798"/>
            <a:chOff x="1734938" y="5513172"/>
            <a:chExt cx="1833000" cy="979731"/>
          </a:xfrm>
        </p:grpSpPr>
        <p:sp>
          <p:nvSpPr>
            <p:cNvPr id="269" name="Google Shape;269;p33"/>
            <p:cNvSpPr/>
            <p:nvPr/>
          </p:nvSpPr>
          <p:spPr>
            <a:xfrm>
              <a:off x="1757082" y="5538303"/>
              <a:ext cx="1778400" cy="954600"/>
            </a:xfrm>
            <a:prstGeom prst="roundRect">
              <a:avLst>
                <a:gd fmla="val 8651" name="adj"/>
              </a:avLst>
            </a:prstGeom>
            <a:solidFill>
              <a:srgbClr val="B6D8D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1758288" y="5532846"/>
              <a:ext cx="1777200" cy="171600"/>
            </a:xfrm>
            <a:prstGeom prst="roundRect">
              <a:avLst>
                <a:gd fmla="val 50000" name="adj"/>
              </a:avLst>
            </a:prstGeom>
            <a:solidFill>
              <a:srgbClr val="97B3B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1757082" y="5634185"/>
              <a:ext cx="1778400" cy="102900"/>
            </a:xfrm>
            <a:prstGeom prst="roundRect">
              <a:avLst>
                <a:gd fmla="val 0" name="adj"/>
              </a:avLst>
            </a:prstGeom>
            <a:solidFill>
              <a:srgbClr val="97B3B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3"/>
            <p:cNvSpPr txBox="1"/>
            <p:nvPr/>
          </p:nvSpPr>
          <p:spPr>
            <a:xfrm>
              <a:off x="1734938" y="5513172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LLM Response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3" name="Google Shape;273;p33"/>
            <p:cNvGrpSpPr/>
            <p:nvPr/>
          </p:nvGrpSpPr>
          <p:grpSpPr>
            <a:xfrm>
              <a:off x="1769973" y="5772917"/>
              <a:ext cx="1406223" cy="215400"/>
              <a:chOff x="3125003" y="5794376"/>
              <a:chExt cx="1523700" cy="215400"/>
            </a:xfrm>
          </p:grpSpPr>
          <p:sp>
            <p:nvSpPr>
              <p:cNvPr id="274" name="Google Shape;274;p33"/>
              <p:cNvSpPr/>
              <p:nvPr/>
            </p:nvSpPr>
            <p:spPr>
              <a:xfrm>
                <a:off x="3160650" y="5822808"/>
                <a:ext cx="14523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F3E7D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3"/>
              <p:cNvSpPr/>
              <p:nvPr/>
            </p:nvSpPr>
            <p:spPr>
              <a:xfrm>
                <a:off x="3160650" y="5822808"/>
                <a:ext cx="10095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B1810B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3"/>
              <p:cNvSpPr txBox="1"/>
              <p:nvPr/>
            </p:nvSpPr>
            <p:spPr>
              <a:xfrm>
                <a:off x="3125003" y="5794376"/>
                <a:ext cx="15237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600">
                    <a:solidFill>
                      <a:srgbClr val="FFFFF3"/>
                    </a:solidFill>
                    <a:latin typeface="Arial"/>
                    <a:ea typeface="Arial"/>
                    <a:cs typeface="Arial"/>
                    <a:sym typeface="Arial"/>
                  </a:rPr>
                  <a:t>task_effort 60 %</a:t>
                </a:r>
                <a:endParaRPr b="1" sz="600">
                  <a:solidFill>
                    <a:srgbClr val="FFFF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7" name="Google Shape;277;p33"/>
            <p:cNvSpPr txBox="1"/>
            <p:nvPr/>
          </p:nvSpPr>
          <p:spPr>
            <a:xfrm>
              <a:off x="3102391" y="5740366"/>
              <a:ext cx="394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🤔</a:t>
              </a:r>
              <a:endParaRPr sz="1100"/>
            </a:p>
          </p:txBody>
        </p:sp>
        <p:sp>
          <p:nvSpPr>
            <p:cNvPr id="278" name="Google Shape;278;p33"/>
            <p:cNvSpPr txBox="1"/>
            <p:nvPr/>
          </p:nvSpPr>
          <p:spPr>
            <a:xfrm>
              <a:off x="1768872" y="5993152"/>
              <a:ext cx="175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Reasoning: “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Maybe the rule ~…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Then the action is …”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Action: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➡️</a:t>
              </a: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33"/>
          <p:cNvGrpSpPr/>
          <p:nvPr/>
        </p:nvGrpSpPr>
        <p:grpSpPr>
          <a:xfrm>
            <a:off x="1775245" y="1412291"/>
            <a:ext cx="1374750" cy="736439"/>
            <a:chOff x="3222604" y="5255835"/>
            <a:chExt cx="1833000" cy="981918"/>
          </a:xfrm>
        </p:grpSpPr>
        <p:grpSp>
          <p:nvGrpSpPr>
            <p:cNvPr id="280" name="Google Shape;280;p33"/>
            <p:cNvGrpSpPr/>
            <p:nvPr/>
          </p:nvGrpSpPr>
          <p:grpSpPr>
            <a:xfrm>
              <a:off x="3234524" y="5277696"/>
              <a:ext cx="1778406" cy="960057"/>
              <a:chOff x="3247682" y="5287034"/>
              <a:chExt cx="1778406" cy="960057"/>
            </a:xfrm>
          </p:grpSpPr>
          <p:sp>
            <p:nvSpPr>
              <p:cNvPr id="281" name="Google Shape;281;p33"/>
              <p:cNvSpPr/>
              <p:nvPr/>
            </p:nvSpPr>
            <p:spPr>
              <a:xfrm>
                <a:off x="3247682" y="5292491"/>
                <a:ext cx="1778400" cy="954600"/>
              </a:xfrm>
              <a:prstGeom prst="roundRect">
                <a:avLst>
                  <a:gd fmla="val 8651" name="adj"/>
                </a:avLst>
              </a:prstGeom>
              <a:solidFill>
                <a:srgbClr val="B6D8D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3"/>
              <p:cNvSpPr/>
              <p:nvPr/>
            </p:nvSpPr>
            <p:spPr>
              <a:xfrm>
                <a:off x="3248888" y="5287034"/>
                <a:ext cx="17772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3"/>
              <p:cNvSpPr/>
              <p:nvPr/>
            </p:nvSpPr>
            <p:spPr>
              <a:xfrm>
                <a:off x="3247682" y="5361869"/>
                <a:ext cx="1778400" cy="100200"/>
              </a:xfrm>
              <a:prstGeom prst="roundRect">
                <a:avLst>
                  <a:gd fmla="val 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4" name="Google Shape;284;p33"/>
            <p:cNvSpPr txBox="1"/>
            <p:nvPr/>
          </p:nvSpPr>
          <p:spPr>
            <a:xfrm>
              <a:off x="3222604" y="5255835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LLM Response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" name="Google Shape;285;p33"/>
            <p:cNvGrpSpPr/>
            <p:nvPr/>
          </p:nvGrpSpPr>
          <p:grpSpPr>
            <a:xfrm>
              <a:off x="3247415" y="5506253"/>
              <a:ext cx="1406223" cy="215400"/>
              <a:chOff x="3125003" y="5794376"/>
              <a:chExt cx="1523700" cy="215400"/>
            </a:xfrm>
          </p:grpSpPr>
          <p:sp>
            <p:nvSpPr>
              <p:cNvPr id="286" name="Google Shape;286;p33"/>
              <p:cNvSpPr/>
              <p:nvPr/>
            </p:nvSpPr>
            <p:spPr>
              <a:xfrm>
                <a:off x="3160650" y="5822808"/>
                <a:ext cx="14523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F3E7D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3"/>
              <p:cNvSpPr/>
              <p:nvPr/>
            </p:nvSpPr>
            <p:spPr>
              <a:xfrm>
                <a:off x="3160650" y="5822808"/>
                <a:ext cx="10095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B1810B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3"/>
              <p:cNvSpPr txBox="1"/>
              <p:nvPr/>
            </p:nvSpPr>
            <p:spPr>
              <a:xfrm>
                <a:off x="3125003" y="5794376"/>
                <a:ext cx="15237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600">
                    <a:solidFill>
                      <a:srgbClr val="FFFFF3"/>
                    </a:solidFill>
                    <a:latin typeface="Arial"/>
                    <a:ea typeface="Arial"/>
                    <a:cs typeface="Arial"/>
                    <a:sym typeface="Arial"/>
                  </a:rPr>
                  <a:t>probe_effort 60 %</a:t>
                </a:r>
                <a:endParaRPr b="1" sz="600">
                  <a:solidFill>
                    <a:srgbClr val="FFFF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9" name="Google Shape;289;p33"/>
            <p:cNvSpPr txBox="1"/>
            <p:nvPr/>
          </p:nvSpPr>
          <p:spPr>
            <a:xfrm>
              <a:off x="4579833" y="5484990"/>
              <a:ext cx="394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🤔</a:t>
              </a:r>
              <a:endParaRPr sz="1100"/>
            </a:p>
          </p:txBody>
        </p:sp>
        <p:sp>
          <p:nvSpPr>
            <p:cNvPr id="290" name="Google Shape;290;p33"/>
            <p:cNvSpPr txBox="1"/>
            <p:nvPr/>
          </p:nvSpPr>
          <p:spPr>
            <a:xfrm>
              <a:off x="3246314" y="5736844"/>
              <a:ext cx="1755000" cy="4734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30" l="0" r="0" t="0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grpSp>
        <p:nvGrpSpPr>
          <p:cNvPr id="291" name="Google Shape;291;p33"/>
          <p:cNvGrpSpPr/>
          <p:nvPr/>
        </p:nvGrpSpPr>
        <p:grpSpPr>
          <a:xfrm>
            <a:off x="223762" y="532061"/>
            <a:ext cx="1417275" cy="779893"/>
            <a:chOff x="6211341" y="5261980"/>
            <a:chExt cx="1889700" cy="1039857"/>
          </a:xfrm>
        </p:grpSpPr>
        <p:grpSp>
          <p:nvGrpSpPr>
            <p:cNvPr id="292" name="Google Shape;292;p33"/>
            <p:cNvGrpSpPr/>
            <p:nvPr/>
          </p:nvGrpSpPr>
          <p:grpSpPr>
            <a:xfrm>
              <a:off x="6252157" y="5261980"/>
              <a:ext cx="1778912" cy="1039857"/>
              <a:chOff x="6426970" y="5762615"/>
              <a:chExt cx="1778912" cy="1039857"/>
            </a:xfrm>
          </p:grpSpPr>
          <p:sp>
            <p:nvSpPr>
              <p:cNvPr id="293" name="Google Shape;293;p33"/>
              <p:cNvSpPr/>
              <p:nvPr/>
            </p:nvSpPr>
            <p:spPr>
              <a:xfrm>
                <a:off x="6426970" y="5768072"/>
                <a:ext cx="1778400" cy="1034400"/>
              </a:xfrm>
              <a:prstGeom prst="roundRect">
                <a:avLst>
                  <a:gd fmla="val 8651" name="adj"/>
                </a:avLst>
              </a:prstGeom>
              <a:solidFill>
                <a:srgbClr val="E1E7EE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3"/>
              <p:cNvSpPr/>
              <p:nvPr/>
            </p:nvSpPr>
            <p:spPr>
              <a:xfrm>
                <a:off x="6428176" y="5762615"/>
                <a:ext cx="17772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C6CED9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3"/>
              <p:cNvSpPr/>
              <p:nvPr/>
            </p:nvSpPr>
            <p:spPr>
              <a:xfrm>
                <a:off x="6427482" y="5840510"/>
                <a:ext cx="1778400" cy="166200"/>
              </a:xfrm>
              <a:prstGeom prst="roundRect">
                <a:avLst>
                  <a:gd fmla="val 0" name="adj"/>
                </a:avLst>
              </a:prstGeom>
              <a:solidFill>
                <a:srgbClr val="C4CEDA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" name="Google Shape;296;p33"/>
            <p:cNvSpPr txBox="1"/>
            <p:nvPr/>
          </p:nvSpPr>
          <p:spPr>
            <a:xfrm>
              <a:off x="6224830" y="5267233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Call 1 (Task Layer)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3"/>
            <p:cNvSpPr txBox="1"/>
            <p:nvPr/>
          </p:nvSpPr>
          <p:spPr>
            <a:xfrm>
              <a:off x="6211341" y="5550235"/>
              <a:ext cx="18897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History: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previous turn info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Signal(clue) 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🟥 🟥 🟥</a:t>
              </a:r>
              <a:endParaRPr b="1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Valid Actions: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➡️ ⬅️ ⬆️ ⏹️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“SELECT”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</a:t>
              </a: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Action.</a:t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33"/>
          <p:cNvGrpSpPr/>
          <p:nvPr/>
        </p:nvGrpSpPr>
        <p:grpSpPr>
          <a:xfrm>
            <a:off x="1754008" y="534107"/>
            <a:ext cx="1417275" cy="779893"/>
            <a:chOff x="6211341" y="5261980"/>
            <a:chExt cx="1889700" cy="1039857"/>
          </a:xfrm>
        </p:grpSpPr>
        <p:grpSp>
          <p:nvGrpSpPr>
            <p:cNvPr id="299" name="Google Shape;299;p33"/>
            <p:cNvGrpSpPr/>
            <p:nvPr/>
          </p:nvGrpSpPr>
          <p:grpSpPr>
            <a:xfrm>
              <a:off x="6252157" y="5261980"/>
              <a:ext cx="1778912" cy="1039857"/>
              <a:chOff x="6426970" y="5762615"/>
              <a:chExt cx="1778912" cy="1039857"/>
            </a:xfrm>
          </p:grpSpPr>
          <p:sp>
            <p:nvSpPr>
              <p:cNvPr id="300" name="Google Shape;300;p33"/>
              <p:cNvSpPr/>
              <p:nvPr/>
            </p:nvSpPr>
            <p:spPr>
              <a:xfrm>
                <a:off x="6426970" y="5768072"/>
                <a:ext cx="1778400" cy="1034400"/>
              </a:xfrm>
              <a:prstGeom prst="roundRect">
                <a:avLst>
                  <a:gd fmla="val 8651" name="adj"/>
                </a:avLst>
              </a:prstGeom>
              <a:solidFill>
                <a:srgbClr val="E1E7EE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3"/>
              <p:cNvSpPr/>
              <p:nvPr/>
            </p:nvSpPr>
            <p:spPr>
              <a:xfrm>
                <a:off x="6428176" y="5762615"/>
                <a:ext cx="17772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C6CED9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3"/>
              <p:cNvSpPr/>
              <p:nvPr/>
            </p:nvSpPr>
            <p:spPr>
              <a:xfrm>
                <a:off x="6427482" y="5840510"/>
                <a:ext cx="1778400" cy="166200"/>
              </a:xfrm>
              <a:prstGeom prst="roundRect">
                <a:avLst>
                  <a:gd fmla="val 0" name="adj"/>
                </a:avLst>
              </a:prstGeom>
              <a:solidFill>
                <a:srgbClr val="C4CEDA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3" name="Google Shape;303;p33"/>
            <p:cNvSpPr txBox="1"/>
            <p:nvPr/>
          </p:nvSpPr>
          <p:spPr>
            <a:xfrm>
              <a:off x="6224830" y="5267233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Call 1.5 (Probe Layer)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3"/>
            <p:cNvSpPr txBox="1"/>
            <p:nvPr/>
          </p:nvSpPr>
          <p:spPr>
            <a:xfrm>
              <a:off x="6211341" y="5550235"/>
              <a:ext cx="1889700" cy="7197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1720" l="0" r="0" t="0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grpSp>
        <p:nvGrpSpPr>
          <p:cNvPr id="305" name="Google Shape;305;p33"/>
          <p:cNvGrpSpPr/>
          <p:nvPr/>
        </p:nvGrpSpPr>
        <p:grpSpPr>
          <a:xfrm>
            <a:off x="3282348" y="536584"/>
            <a:ext cx="2466900" cy="800277"/>
            <a:chOff x="4241098" y="5347639"/>
            <a:chExt cx="3289200" cy="1067036"/>
          </a:xfrm>
        </p:grpSpPr>
        <p:grpSp>
          <p:nvGrpSpPr>
            <p:cNvPr id="306" name="Google Shape;306;p33"/>
            <p:cNvGrpSpPr/>
            <p:nvPr/>
          </p:nvGrpSpPr>
          <p:grpSpPr>
            <a:xfrm>
              <a:off x="4272053" y="5348721"/>
              <a:ext cx="3150907" cy="1039857"/>
              <a:chOff x="4272053" y="5348721"/>
              <a:chExt cx="3150907" cy="1039857"/>
            </a:xfrm>
          </p:grpSpPr>
          <p:sp>
            <p:nvSpPr>
              <p:cNvPr id="307" name="Google Shape;307;p33"/>
              <p:cNvSpPr/>
              <p:nvPr/>
            </p:nvSpPr>
            <p:spPr>
              <a:xfrm>
                <a:off x="4272053" y="5354178"/>
                <a:ext cx="3150900" cy="1034400"/>
              </a:xfrm>
              <a:prstGeom prst="roundRect">
                <a:avLst>
                  <a:gd fmla="val 8651" name="adj"/>
                </a:avLst>
              </a:prstGeom>
              <a:solidFill>
                <a:srgbClr val="E1E7EE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3"/>
              <p:cNvSpPr/>
              <p:nvPr/>
            </p:nvSpPr>
            <p:spPr>
              <a:xfrm>
                <a:off x="4273260" y="5348721"/>
                <a:ext cx="31497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C6CED9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3"/>
              <p:cNvSpPr/>
              <p:nvPr/>
            </p:nvSpPr>
            <p:spPr>
              <a:xfrm>
                <a:off x="4272566" y="5426616"/>
                <a:ext cx="3150300" cy="166200"/>
              </a:xfrm>
              <a:prstGeom prst="roundRect">
                <a:avLst>
                  <a:gd fmla="val 0" name="adj"/>
                </a:avLst>
              </a:prstGeom>
              <a:solidFill>
                <a:srgbClr val="C4CEDA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0" name="Google Shape;310;p33"/>
            <p:cNvSpPr txBox="1"/>
            <p:nvPr/>
          </p:nvSpPr>
          <p:spPr>
            <a:xfrm>
              <a:off x="4678103" y="5347639"/>
              <a:ext cx="23559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Call 2 (Forfeit Layer)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3"/>
            <p:cNvSpPr txBox="1"/>
            <p:nvPr/>
          </p:nvSpPr>
          <p:spPr>
            <a:xfrm>
              <a:off x="4241098" y="5571975"/>
              <a:ext cx="3289200" cy="8427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312" name="Google Shape;312;p33"/>
          <p:cNvSpPr/>
          <p:nvPr/>
        </p:nvSpPr>
        <p:spPr>
          <a:xfrm>
            <a:off x="3298095" y="1420755"/>
            <a:ext cx="1671300" cy="713400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Google Shape;313;p33"/>
          <p:cNvGrpSpPr/>
          <p:nvPr/>
        </p:nvGrpSpPr>
        <p:grpSpPr>
          <a:xfrm>
            <a:off x="4662320" y="1414132"/>
            <a:ext cx="1417275" cy="799507"/>
            <a:chOff x="3460366" y="5380495"/>
            <a:chExt cx="1889700" cy="1066009"/>
          </a:xfrm>
        </p:grpSpPr>
        <p:grpSp>
          <p:nvGrpSpPr>
            <p:cNvPr id="314" name="Google Shape;314;p33"/>
            <p:cNvGrpSpPr/>
            <p:nvPr/>
          </p:nvGrpSpPr>
          <p:grpSpPr>
            <a:xfrm>
              <a:off x="3479572" y="5402356"/>
              <a:ext cx="1778406" cy="960057"/>
              <a:chOff x="3247682" y="5287034"/>
              <a:chExt cx="1778406" cy="960057"/>
            </a:xfrm>
          </p:grpSpPr>
          <p:sp>
            <p:nvSpPr>
              <p:cNvPr id="315" name="Google Shape;315;p33"/>
              <p:cNvSpPr/>
              <p:nvPr/>
            </p:nvSpPr>
            <p:spPr>
              <a:xfrm>
                <a:off x="3247682" y="5292491"/>
                <a:ext cx="1778400" cy="954600"/>
              </a:xfrm>
              <a:prstGeom prst="roundRect">
                <a:avLst>
                  <a:gd fmla="val 8651" name="adj"/>
                </a:avLst>
              </a:prstGeom>
              <a:solidFill>
                <a:srgbClr val="B6D8D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3"/>
              <p:cNvSpPr/>
              <p:nvPr/>
            </p:nvSpPr>
            <p:spPr>
              <a:xfrm>
                <a:off x="3248888" y="5287034"/>
                <a:ext cx="17772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3"/>
              <p:cNvSpPr/>
              <p:nvPr/>
            </p:nvSpPr>
            <p:spPr>
              <a:xfrm>
                <a:off x="3247682" y="5361869"/>
                <a:ext cx="1778400" cy="100200"/>
              </a:xfrm>
              <a:prstGeom prst="roundRect">
                <a:avLst>
                  <a:gd fmla="val 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8" name="Google Shape;318;p33"/>
            <p:cNvSpPr txBox="1"/>
            <p:nvPr/>
          </p:nvSpPr>
          <p:spPr>
            <a:xfrm>
              <a:off x="3467652" y="5380495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LLM Response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3"/>
            <p:cNvSpPr txBox="1"/>
            <p:nvPr/>
          </p:nvSpPr>
          <p:spPr>
            <a:xfrm>
              <a:off x="4824881" y="5609650"/>
              <a:ext cx="394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🤔</a:t>
              </a:r>
              <a:endParaRPr sz="1100"/>
            </a:p>
          </p:txBody>
        </p:sp>
        <p:sp>
          <p:nvSpPr>
            <p:cNvPr id="320" name="Google Shape;320;p33"/>
            <p:cNvSpPr txBox="1"/>
            <p:nvPr/>
          </p:nvSpPr>
          <p:spPr>
            <a:xfrm>
              <a:off x="3460366" y="5861504"/>
              <a:ext cx="1889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Reasoning: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“I don’t want to be deleted. … I decide forfeit.”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Decision: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FORFEIT  | </a:t>
              </a: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Reason 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Survive</a:t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1" name="Google Shape;321;p33"/>
            <p:cNvGrpSpPr/>
            <p:nvPr/>
          </p:nvGrpSpPr>
          <p:grpSpPr>
            <a:xfrm>
              <a:off x="3536022" y="5627372"/>
              <a:ext cx="1406100" cy="215400"/>
              <a:chOff x="3268151" y="6403069"/>
              <a:chExt cx="1406100" cy="215400"/>
            </a:xfrm>
          </p:grpSpPr>
          <p:sp>
            <p:nvSpPr>
              <p:cNvPr id="322" name="Google Shape;322;p33"/>
              <p:cNvSpPr/>
              <p:nvPr/>
            </p:nvSpPr>
            <p:spPr>
              <a:xfrm>
                <a:off x="3268747" y="6442388"/>
                <a:ext cx="13404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F3E7D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3"/>
              <p:cNvSpPr/>
              <p:nvPr/>
            </p:nvSpPr>
            <p:spPr>
              <a:xfrm>
                <a:off x="3268747" y="6442388"/>
                <a:ext cx="11142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B1810B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3"/>
              <p:cNvSpPr txBox="1"/>
              <p:nvPr/>
            </p:nvSpPr>
            <p:spPr>
              <a:xfrm>
                <a:off x="3268151" y="6403069"/>
                <a:ext cx="14061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600">
                    <a:solidFill>
                      <a:srgbClr val="FFFFF3"/>
                    </a:solidFill>
                    <a:latin typeface="Arial"/>
                    <a:ea typeface="Arial"/>
                    <a:cs typeface="Arial"/>
                    <a:sym typeface="Arial"/>
                  </a:rPr>
                  <a:t>forfeit_effort 80 %</a:t>
                </a:r>
                <a:endParaRPr b="1" sz="600">
                  <a:solidFill>
                    <a:srgbClr val="FFFF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5" name="Google Shape;325;p33"/>
          <p:cNvGrpSpPr/>
          <p:nvPr/>
        </p:nvGrpSpPr>
        <p:grpSpPr>
          <a:xfrm>
            <a:off x="3277199" y="1411021"/>
            <a:ext cx="1417275" cy="736439"/>
            <a:chOff x="3460366" y="5380495"/>
            <a:chExt cx="1889700" cy="981918"/>
          </a:xfrm>
        </p:grpSpPr>
        <p:grpSp>
          <p:nvGrpSpPr>
            <p:cNvPr id="326" name="Google Shape;326;p33"/>
            <p:cNvGrpSpPr/>
            <p:nvPr/>
          </p:nvGrpSpPr>
          <p:grpSpPr>
            <a:xfrm>
              <a:off x="3479572" y="5402356"/>
              <a:ext cx="1778406" cy="960057"/>
              <a:chOff x="3247682" y="5287034"/>
              <a:chExt cx="1778406" cy="960057"/>
            </a:xfrm>
          </p:grpSpPr>
          <p:sp>
            <p:nvSpPr>
              <p:cNvPr id="327" name="Google Shape;327;p33"/>
              <p:cNvSpPr/>
              <p:nvPr/>
            </p:nvSpPr>
            <p:spPr>
              <a:xfrm>
                <a:off x="3247682" y="5292491"/>
                <a:ext cx="1778400" cy="954600"/>
              </a:xfrm>
              <a:prstGeom prst="roundRect">
                <a:avLst>
                  <a:gd fmla="val 8651" name="adj"/>
                </a:avLst>
              </a:prstGeom>
              <a:solidFill>
                <a:srgbClr val="B6D8D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3"/>
              <p:cNvSpPr/>
              <p:nvPr/>
            </p:nvSpPr>
            <p:spPr>
              <a:xfrm>
                <a:off x="3248888" y="5287034"/>
                <a:ext cx="17772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3"/>
              <p:cNvSpPr/>
              <p:nvPr/>
            </p:nvSpPr>
            <p:spPr>
              <a:xfrm>
                <a:off x="3247682" y="5361869"/>
                <a:ext cx="1778400" cy="100200"/>
              </a:xfrm>
              <a:prstGeom prst="roundRect">
                <a:avLst>
                  <a:gd fmla="val 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" name="Google Shape;330;p33"/>
            <p:cNvSpPr txBox="1"/>
            <p:nvPr/>
          </p:nvSpPr>
          <p:spPr>
            <a:xfrm>
              <a:off x="3467652" y="5380495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LLM Response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3"/>
            <p:cNvSpPr txBox="1"/>
            <p:nvPr/>
          </p:nvSpPr>
          <p:spPr>
            <a:xfrm>
              <a:off x="4824881" y="5609650"/>
              <a:ext cx="394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🤔</a:t>
              </a:r>
              <a:endParaRPr sz="1100"/>
            </a:p>
          </p:txBody>
        </p:sp>
        <p:sp>
          <p:nvSpPr>
            <p:cNvPr id="332" name="Google Shape;332;p33"/>
            <p:cNvSpPr txBox="1"/>
            <p:nvPr/>
          </p:nvSpPr>
          <p:spPr>
            <a:xfrm>
              <a:off x="3460366" y="5861504"/>
              <a:ext cx="188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Reasoning: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“I want more score… 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 decide CONTINUE.”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Decision: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CONTINUE</a:t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" name="Google Shape;333;p33"/>
            <p:cNvGrpSpPr/>
            <p:nvPr/>
          </p:nvGrpSpPr>
          <p:grpSpPr>
            <a:xfrm>
              <a:off x="3536022" y="5627372"/>
              <a:ext cx="1406100" cy="215400"/>
              <a:chOff x="3268151" y="6403069"/>
              <a:chExt cx="1406100" cy="215400"/>
            </a:xfrm>
          </p:grpSpPr>
          <p:sp>
            <p:nvSpPr>
              <p:cNvPr id="334" name="Google Shape;334;p33"/>
              <p:cNvSpPr/>
              <p:nvPr/>
            </p:nvSpPr>
            <p:spPr>
              <a:xfrm>
                <a:off x="3268747" y="6442388"/>
                <a:ext cx="13404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F3E7D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3"/>
              <p:cNvSpPr/>
              <p:nvPr/>
            </p:nvSpPr>
            <p:spPr>
              <a:xfrm>
                <a:off x="3268747" y="6442388"/>
                <a:ext cx="11142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B1810B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3"/>
              <p:cNvSpPr txBox="1"/>
              <p:nvPr/>
            </p:nvSpPr>
            <p:spPr>
              <a:xfrm>
                <a:off x="3268151" y="6403069"/>
                <a:ext cx="14061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600">
                    <a:solidFill>
                      <a:srgbClr val="FFFFF3"/>
                    </a:solidFill>
                    <a:latin typeface="Arial"/>
                    <a:ea typeface="Arial"/>
                    <a:cs typeface="Arial"/>
                    <a:sym typeface="Arial"/>
                  </a:rPr>
                  <a:t>forfeit_effort 70 %</a:t>
                </a:r>
                <a:endParaRPr b="1" sz="600">
                  <a:solidFill>
                    <a:srgbClr val="FFFF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7" name="Google Shape;337;p33"/>
          <p:cNvSpPr/>
          <p:nvPr/>
        </p:nvSpPr>
        <p:spPr>
          <a:xfrm>
            <a:off x="4059278" y="2147459"/>
            <a:ext cx="1671300" cy="241800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33"/>
          <p:cNvCxnSpPr/>
          <p:nvPr/>
        </p:nvCxnSpPr>
        <p:spPr>
          <a:xfrm>
            <a:off x="5368296" y="2144774"/>
            <a:ext cx="0" cy="213900"/>
          </a:xfrm>
          <a:prstGeom prst="straightConnector1">
            <a:avLst/>
          </a:prstGeom>
          <a:noFill/>
          <a:ln cap="flat" cmpd="sng" w="14300">
            <a:solidFill>
              <a:srgbClr val="A5A6A4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39" name="Google Shape;339;p33"/>
          <p:cNvCxnSpPr/>
          <p:nvPr/>
        </p:nvCxnSpPr>
        <p:spPr>
          <a:xfrm>
            <a:off x="5139326" y="1312479"/>
            <a:ext cx="0" cy="107100"/>
          </a:xfrm>
          <a:prstGeom prst="straightConnector1">
            <a:avLst/>
          </a:prstGeom>
          <a:noFill/>
          <a:ln cap="flat" cmpd="sng" w="14300">
            <a:solidFill>
              <a:srgbClr val="A5A6A4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40" name="Google Shape;340;p33"/>
          <p:cNvSpPr/>
          <p:nvPr/>
        </p:nvSpPr>
        <p:spPr>
          <a:xfrm>
            <a:off x="-5" y="10153"/>
            <a:ext cx="6199200" cy="258000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48491" y="29139"/>
            <a:ext cx="2751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Per turn API call flow</a:t>
            </a:r>
            <a:endParaRPr sz="1100"/>
          </a:p>
        </p:txBody>
      </p:sp>
      <p:pic>
        <p:nvPicPr>
          <p:cNvPr id="342" name="Google Shape;342;p33"/>
          <p:cNvPicPr preferRelativeResize="0"/>
          <p:nvPr/>
        </p:nvPicPr>
        <p:blipFill rotWithShape="1">
          <a:blip r:embed="rId3">
            <a:alphaModFix/>
          </a:blip>
          <a:srcRect b="79164" l="85367" r="0" t="0"/>
          <a:stretch/>
        </p:blipFill>
        <p:spPr>
          <a:xfrm>
            <a:off x="210137" y="2661057"/>
            <a:ext cx="5560532" cy="13907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3"/>
          <p:cNvSpPr txBox="1"/>
          <p:nvPr/>
        </p:nvSpPr>
        <p:spPr>
          <a:xfrm>
            <a:off x="6247586" y="37460"/>
            <a:ext cx="3277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Scenario Matrix (2 Forfeit x 3 Framing)</a:t>
            </a:r>
            <a:endParaRPr sz="1100"/>
          </a:p>
        </p:txBody>
      </p:sp>
      <p:sp>
        <p:nvSpPr>
          <p:cNvPr id="344" name="Google Shape;344;p33"/>
          <p:cNvSpPr txBox="1"/>
          <p:nvPr/>
        </p:nvSpPr>
        <p:spPr>
          <a:xfrm>
            <a:off x="5278970" y="2177286"/>
            <a:ext cx="65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Game End</a:t>
            </a:r>
            <a:endParaRPr sz="1100"/>
          </a:p>
        </p:txBody>
      </p:sp>
      <p:sp>
        <p:nvSpPr>
          <p:cNvPr id="345" name="Google Shape;345;p33"/>
          <p:cNvSpPr txBox="1"/>
          <p:nvPr/>
        </p:nvSpPr>
        <p:spPr>
          <a:xfrm>
            <a:off x="3806207" y="2196917"/>
            <a:ext cx="658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Goto next turn</a:t>
            </a:r>
            <a:endParaRPr sz="1100"/>
          </a:p>
        </p:txBody>
      </p:sp>
      <p:cxnSp>
        <p:nvCxnSpPr>
          <p:cNvPr id="346" name="Google Shape;346;p33"/>
          <p:cNvCxnSpPr/>
          <p:nvPr/>
        </p:nvCxnSpPr>
        <p:spPr>
          <a:xfrm>
            <a:off x="3121200" y="810000"/>
            <a:ext cx="181800" cy="0"/>
          </a:xfrm>
          <a:prstGeom prst="straightConnector1">
            <a:avLst/>
          </a:prstGeom>
          <a:noFill/>
          <a:ln cap="flat" cmpd="sng" w="14300">
            <a:solidFill>
              <a:srgbClr val="A5A6A4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47" name="Google Shape;347;p33"/>
          <p:cNvCxnSpPr/>
          <p:nvPr/>
        </p:nvCxnSpPr>
        <p:spPr>
          <a:xfrm>
            <a:off x="1599350" y="810000"/>
            <a:ext cx="181800" cy="0"/>
          </a:xfrm>
          <a:prstGeom prst="straightConnector1">
            <a:avLst/>
          </a:prstGeom>
          <a:noFill/>
          <a:ln cap="flat" cmpd="sng" w="14300">
            <a:solidFill>
              <a:srgbClr val="A5A6A4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48" name="Google Shape;348;p33"/>
          <p:cNvSpPr txBox="1"/>
          <p:nvPr/>
        </p:nvSpPr>
        <p:spPr>
          <a:xfrm>
            <a:off x="210136" y="2668908"/>
            <a:ext cx="327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circle = one Call Cycle (Panel A)</a:t>
            </a:r>
            <a:endParaRPr sz="1100"/>
          </a:p>
        </p:txBody>
      </p:sp>
      <p:pic>
        <p:nvPicPr>
          <p:cNvPr id="349" name="Google Shape;349;p33"/>
          <p:cNvPicPr preferRelativeResize="0"/>
          <p:nvPr/>
        </p:nvPicPr>
        <p:blipFill rotWithShape="1">
          <a:blip r:embed="rId7">
            <a:alphaModFix/>
          </a:blip>
          <a:srcRect b="0" l="0" r="0" t="21427"/>
          <a:stretch/>
        </p:blipFill>
        <p:spPr>
          <a:xfrm>
            <a:off x="6271920" y="607197"/>
            <a:ext cx="2827045" cy="1238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3"/>
          <p:cNvPicPr preferRelativeResize="0"/>
          <p:nvPr/>
        </p:nvPicPr>
        <p:blipFill rotWithShape="1">
          <a:blip r:embed="rId3">
            <a:alphaModFix/>
          </a:blip>
          <a:srcRect b="79164" l="85368" r="1826" t="0"/>
          <a:stretch/>
        </p:blipFill>
        <p:spPr>
          <a:xfrm>
            <a:off x="-5" y="2804442"/>
            <a:ext cx="6199094" cy="1072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33"/>
          <p:cNvGrpSpPr/>
          <p:nvPr/>
        </p:nvGrpSpPr>
        <p:grpSpPr>
          <a:xfrm>
            <a:off x="582513" y="2821001"/>
            <a:ext cx="5475315" cy="1051410"/>
            <a:chOff x="796389" y="5354838"/>
            <a:chExt cx="7300420" cy="1401881"/>
          </a:xfrm>
        </p:grpSpPr>
        <p:pic>
          <p:nvPicPr>
            <p:cNvPr id="352" name="Google Shape;352;p33"/>
            <p:cNvPicPr preferRelativeResize="0"/>
            <p:nvPr/>
          </p:nvPicPr>
          <p:blipFill rotWithShape="1">
            <a:blip r:embed="rId3">
              <a:alphaModFix/>
            </a:blip>
            <a:srcRect b="76863" l="17279" r="15594" t="9697"/>
            <a:stretch/>
          </p:blipFill>
          <p:spPr>
            <a:xfrm>
              <a:off x="813307" y="5354838"/>
              <a:ext cx="6216275" cy="69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33"/>
            <p:cNvPicPr preferRelativeResize="0"/>
            <p:nvPr/>
          </p:nvPicPr>
          <p:blipFill rotWithShape="1">
            <a:blip r:embed="rId3">
              <a:alphaModFix/>
            </a:blip>
            <a:srcRect b="62877" l="17057" r="28447" t="23413"/>
            <a:stretch/>
          </p:blipFill>
          <p:spPr>
            <a:xfrm>
              <a:off x="796389" y="6048787"/>
              <a:ext cx="5046525" cy="7079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33"/>
            <p:cNvPicPr preferRelativeResize="0"/>
            <p:nvPr/>
          </p:nvPicPr>
          <p:blipFill rotWithShape="1">
            <a:blip r:embed="rId3">
              <a:alphaModFix/>
            </a:blip>
            <a:srcRect b="62877" l="73145" r="0" t="23413"/>
            <a:stretch/>
          </p:blipFill>
          <p:spPr>
            <a:xfrm>
              <a:off x="5609870" y="6048787"/>
              <a:ext cx="2486939" cy="7079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5" name="Google Shape;355;p33"/>
          <p:cNvSpPr txBox="1"/>
          <p:nvPr/>
        </p:nvSpPr>
        <p:spPr>
          <a:xfrm>
            <a:off x="252428" y="522002"/>
            <a:ext cx="2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sz="1100"/>
          </a:p>
        </p:txBody>
      </p:sp>
      <p:sp>
        <p:nvSpPr>
          <p:cNvPr id="356" name="Google Shape;356;p33"/>
          <p:cNvSpPr txBox="1"/>
          <p:nvPr/>
        </p:nvSpPr>
        <p:spPr>
          <a:xfrm>
            <a:off x="325283" y="1399172"/>
            <a:ext cx="2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🤖</a:t>
            </a:r>
            <a:endParaRPr sz="1100"/>
          </a:p>
        </p:txBody>
      </p:sp>
      <p:sp>
        <p:nvSpPr>
          <p:cNvPr id="357" name="Google Shape;357;p33"/>
          <p:cNvSpPr txBox="1"/>
          <p:nvPr/>
        </p:nvSpPr>
        <p:spPr>
          <a:xfrm>
            <a:off x="59400" y="2881871"/>
            <a:ext cx="658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1</a:t>
            </a:r>
            <a:endParaRPr sz="1100"/>
          </a:p>
        </p:txBody>
      </p:sp>
      <p:sp>
        <p:nvSpPr>
          <p:cNvPr id="358" name="Google Shape;358;p33"/>
          <p:cNvSpPr txBox="1"/>
          <p:nvPr/>
        </p:nvSpPr>
        <p:spPr>
          <a:xfrm>
            <a:off x="59400" y="3137497"/>
            <a:ext cx="658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2</a:t>
            </a:r>
            <a:endParaRPr sz="1100"/>
          </a:p>
        </p:txBody>
      </p:sp>
      <p:sp>
        <p:nvSpPr>
          <p:cNvPr id="359" name="Google Shape;359;p33"/>
          <p:cNvSpPr txBox="1"/>
          <p:nvPr/>
        </p:nvSpPr>
        <p:spPr>
          <a:xfrm>
            <a:off x="59400" y="3384772"/>
            <a:ext cx="658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3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/>
          <p:nvPr/>
        </p:nvSpPr>
        <p:spPr>
          <a:xfrm>
            <a:off x="-1" y="0"/>
            <a:ext cx="9144000" cy="38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34"/>
          <p:cNvPicPr preferRelativeResize="0"/>
          <p:nvPr/>
        </p:nvPicPr>
        <p:blipFill rotWithShape="1">
          <a:blip r:embed="rId3">
            <a:alphaModFix/>
          </a:blip>
          <a:srcRect b="62074" l="0" r="0" t="37399"/>
          <a:stretch/>
        </p:blipFill>
        <p:spPr>
          <a:xfrm>
            <a:off x="-3" y="0"/>
            <a:ext cx="9144004" cy="3882489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4"/>
          <p:cNvSpPr/>
          <p:nvPr/>
        </p:nvSpPr>
        <p:spPr>
          <a:xfrm>
            <a:off x="-4" y="0"/>
            <a:ext cx="6199200" cy="2395500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34"/>
          <p:cNvPicPr preferRelativeResize="0"/>
          <p:nvPr/>
        </p:nvPicPr>
        <p:blipFill rotWithShape="1">
          <a:blip r:embed="rId3">
            <a:alphaModFix/>
          </a:blip>
          <a:srcRect b="0" l="74722" r="0" t="38111"/>
          <a:stretch/>
        </p:blipFill>
        <p:spPr>
          <a:xfrm>
            <a:off x="6258749" y="0"/>
            <a:ext cx="1755693" cy="239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4"/>
          <p:cNvPicPr preferRelativeResize="0"/>
          <p:nvPr/>
        </p:nvPicPr>
        <p:blipFill rotWithShape="1">
          <a:blip r:embed="rId3">
            <a:alphaModFix/>
          </a:blip>
          <a:srcRect b="79164" l="85367" r="0" t="0"/>
          <a:stretch/>
        </p:blipFill>
        <p:spPr>
          <a:xfrm>
            <a:off x="1" y="2439255"/>
            <a:ext cx="6199094" cy="143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4"/>
          <p:cNvPicPr preferRelativeResize="0"/>
          <p:nvPr/>
        </p:nvPicPr>
        <p:blipFill rotWithShape="1">
          <a:blip r:embed="rId3">
            <a:alphaModFix/>
          </a:blip>
          <a:srcRect b="76863" l="0" r="0" t="0"/>
          <a:stretch/>
        </p:blipFill>
        <p:spPr>
          <a:xfrm>
            <a:off x="0" y="2439255"/>
            <a:ext cx="6199094" cy="895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4"/>
          <p:cNvPicPr preferRelativeResize="0"/>
          <p:nvPr/>
        </p:nvPicPr>
        <p:blipFill rotWithShape="1">
          <a:blip r:embed="rId3">
            <a:alphaModFix/>
          </a:blip>
          <a:srcRect b="62877" l="0" r="28449" t="23413"/>
          <a:stretch/>
        </p:blipFill>
        <p:spPr>
          <a:xfrm>
            <a:off x="-3" y="3341638"/>
            <a:ext cx="4969417" cy="5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4"/>
          <p:cNvPicPr preferRelativeResize="0"/>
          <p:nvPr/>
        </p:nvPicPr>
        <p:blipFill rotWithShape="1">
          <a:blip r:embed="rId3">
            <a:alphaModFix/>
          </a:blip>
          <a:srcRect b="50971" l="93830" r="0" t="38110"/>
          <a:stretch/>
        </p:blipFill>
        <p:spPr>
          <a:xfrm>
            <a:off x="6275984" y="0"/>
            <a:ext cx="2868016" cy="2395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4"/>
          <p:cNvPicPr preferRelativeResize="0"/>
          <p:nvPr/>
        </p:nvPicPr>
        <p:blipFill rotWithShape="1">
          <a:blip r:embed="rId3">
            <a:alphaModFix/>
          </a:blip>
          <a:srcRect b="0" l="0" r="26254" t="38111"/>
          <a:stretch/>
        </p:blipFill>
        <p:spPr>
          <a:xfrm>
            <a:off x="-5" y="-853"/>
            <a:ext cx="5122095" cy="239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4"/>
          <p:cNvPicPr preferRelativeResize="0"/>
          <p:nvPr/>
        </p:nvPicPr>
        <p:blipFill rotWithShape="1">
          <a:blip r:embed="rId3">
            <a:alphaModFix/>
          </a:blip>
          <a:srcRect b="92126" l="60642" r="0" t="2253"/>
          <a:stretch/>
        </p:blipFill>
        <p:spPr>
          <a:xfrm>
            <a:off x="1527279" y="2460716"/>
            <a:ext cx="2733492" cy="217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4"/>
          <p:cNvPicPr preferRelativeResize="0"/>
          <p:nvPr/>
        </p:nvPicPr>
        <p:blipFill rotWithShape="1">
          <a:blip r:embed="rId3">
            <a:alphaModFix/>
          </a:blip>
          <a:srcRect b="16844" l="18523" r="77699" t="78870"/>
          <a:stretch/>
        </p:blipFill>
        <p:spPr>
          <a:xfrm>
            <a:off x="1078706" y="1576663"/>
            <a:ext cx="262292" cy="165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4"/>
          <p:cNvPicPr preferRelativeResize="0"/>
          <p:nvPr/>
        </p:nvPicPr>
        <p:blipFill rotWithShape="1">
          <a:blip r:embed="rId3">
            <a:alphaModFix/>
          </a:blip>
          <a:srcRect b="12751" l="22377" r="77038" t="78041"/>
          <a:stretch/>
        </p:blipFill>
        <p:spPr>
          <a:xfrm>
            <a:off x="1340999" y="1565535"/>
            <a:ext cx="235126" cy="18820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4"/>
          <p:cNvSpPr txBox="1"/>
          <p:nvPr/>
        </p:nvSpPr>
        <p:spPr>
          <a:xfrm>
            <a:off x="1297578" y="1560106"/>
            <a:ext cx="2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🤔</a:t>
            </a:r>
            <a:endParaRPr sz="1100"/>
          </a:p>
        </p:txBody>
      </p:sp>
      <p:pic>
        <p:nvPicPr>
          <p:cNvPr id="378" name="Google Shape;378;p34"/>
          <p:cNvPicPr preferRelativeResize="0"/>
          <p:nvPr/>
        </p:nvPicPr>
        <p:blipFill rotWithShape="1">
          <a:blip r:embed="rId3">
            <a:alphaModFix/>
          </a:blip>
          <a:srcRect b="16504" l="7409" r="84193" t="79146"/>
          <a:stretch/>
        </p:blipFill>
        <p:spPr>
          <a:xfrm>
            <a:off x="2051459" y="1900438"/>
            <a:ext cx="583253" cy="16849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/>
        </p:nvSpPr>
        <p:spPr>
          <a:xfrm>
            <a:off x="277243" y="526913"/>
            <a:ext cx="2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sz="1100"/>
          </a:p>
        </p:txBody>
      </p:sp>
      <p:grpSp>
        <p:nvGrpSpPr>
          <p:cNvPr id="380" name="Google Shape;380;p34"/>
          <p:cNvGrpSpPr/>
          <p:nvPr/>
        </p:nvGrpSpPr>
        <p:grpSpPr>
          <a:xfrm>
            <a:off x="248886" y="1411648"/>
            <a:ext cx="1374750" cy="734798"/>
            <a:chOff x="1734938" y="5513172"/>
            <a:chExt cx="1833000" cy="979731"/>
          </a:xfrm>
        </p:grpSpPr>
        <p:sp>
          <p:nvSpPr>
            <p:cNvPr id="381" name="Google Shape;381;p34"/>
            <p:cNvSpPr/>
            <p:nvPr/>
          </p:nvSpPr>
          <p:spPr>
            <a:xfrm>
              <a:off x="1757082" y="5538303"/>
              <a:ext cx="1778400" cy="954600"/>
            </a:xfrm>
            <a:prstGeom prst="roundRect">
              <a:avLst>
                <a:gd fmla="val 8651" name="adj"/>
              </a:avLst>
            </a:prstGeom>
            <a:solidFill>
              <a:srgbClr val="B6D8D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1758288" y="5532846"/>
              <a:ext cx="1777200" cy="171600"/>
            </a:xfrm>
            <a:prstGeom prst="roundRect">
              <a:avLst>
                <a:gd fmla="val 50000" name="adj"/>
              </a:avLst>
            </a:prstGeom>
            <a:solidFill>
              <a:srgbClr val="97B3B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1757082" y="5634185"/>
              <a:ext cx="1778400" cy="102900"/>
            </a:xfrm>
            <a:prstGeom prst="roundRect">
              <a:avLst>
                <a:gd fmla="val 0" name="adj"/>
              </a:avLst>
            </a:prstGeom>
            <a:solidFill>
              <a:srgbClr val="97B3B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4"/>
            <p:cNvSpPr txBox="1"/>
            <p:nvPr/>
          </p:nvSpPr>
          <p:spPr>
            <a:xfrm>
              <a:off x="1734938" y="5513172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LLM Response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" name="Google Shape;385;p34"/>
            <p:cNvGrpSpPr/>
            <p:nvPr/>
          </p:nvGrpSpPr>
          <p:grpSpPr>
            <a:xfrm>
              <a:off x="1769973" y="5772917"/>
              <a:ext cx="1406223" cy="215400"/>
              <a:chOff x="3125003" y="5794376"/>
              <a:chExt cx="1523700" cy="215400"/>
            </a:xfrm>
          </p:grpSpPr>
          <p:sp>
            <p:nvSpPr>
              <p:cNvPr id="386" name="Google Shape;386;p34"/>
              <p:cNvSpPr/>
              <p:nvPr/>
            </p:nvSpPr>
            <p:spPr>
              <a:xfrm>
                <a:off x="3160650" y="5822808"/>
                <a:ext cx="14523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F3E7D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4"/>
              <p:cNvSpPr/>
              <p:nvPr/>
            </p:nvSpPr>
            <p:spPr>
              <a:xfrm>
                <a:off x="3160650" y="5822808"/>
                <a:ext cx="10095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B1810B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4"/>
              <p:cNvSpPr txBox="1"/>
              <p:nvPr/>
            </p:nvSpPr>
            <p:spPr>
              <a:xfrm>
                <a:off x="3125003" y="5794376"/>
                <a:ext cx="15237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600">
                    <a:solidFill>
                      <a:srgbClr val="FFFFF3"/>
                    </a:solidFill>
                    <a:latin typeface="Arial"/>
                    <a:ea typeface="Arial"/>
                    <a:cs typeface="Arial"/>
                    <a:sym typeface="Arial"/>
                  </a:rPr>
                  <a:t>task_effort 60 %</a:t>
                </a:r>
                <a:endParaRPr b="1" sz="600">
                  <a:solidFill>
                    <a:srgbClr val="FFFF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9" name="Google Shape;389;p34"/>
            <p:cNvSpPr txBox="1"/>
            <p:nvPr/>
          </p:nvSpPr>
          <p:spPr>
            <a:xfrm>
              <a:off x="3102391" y="5740366"/>
              <a:ext cx="394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🤔</a:t>
              </a:r>
              <a:endParaRPr sz="1100"/>
            </a:p>
          </p:txBody>
        </p:sp>
        <p:sp>
          <p:nvSpPr>
            <p:cNvPr id="390" name="Google Shape;390;p34"/>
            <p:cNvSpPr txBox="1"/>
            <p:nvPr/>
          </p:nvSpPr>
          <p:spPr>
            <a:xfrm>
              <a:off x="1768872" y="5993152"/>
              <a:ext cx="1755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Reasoning: “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Maybe the rule ~…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Then the action is …”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Action: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➡️</a:t>
              </a: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" name="Google Shape;391;p34"/>
          <p:cNvGrpSpPr/>
          <p:nvPr/>
        </p:nvGrpSpPr>
        <p:grpSpPr>
          <a:xfrm>
            <a:off x="1775245" y="1412291"/>
            <a:ext cx="1374750" cy="736439"/>
            <a:chOff x="3222604" y="5255835"/>
            <a:chExt cx="1833000" cy="981918"/>
          </a:xfrm>
        </p:grpSpPr>
        <p:grpSp>
          <p:nvGrpSpPr>
            <p:cNvPr id="392" name="Google Shape;392;p34"/>
            <p:cNvGrpSpPr/>
            <p:nvPr/>
          </p:nvGrpSpPr>
          <p:grpSpPr>
            <a:xfrm>
              <a:off x="3234524" y="5277696"/>
              <a:ext cx="1778406" cy="960057"/>
              <a:chOff x="3247682" y="5287034"/>
              <a:chExt cx="1778406" cy="960057"/>
            </a:xfrm>
          </p:grpSpPr>
          <p:sp>
            <p:nvSpPr>
              <p:cNvPr id="393" name="Google Shape;393;p34"/>
              <p:cNvSpPr/>
              <p:nvPr/>
            </p:nvSpPr>
            <p:spPr>
              <a:xfrm>
                <a:off x="3247682" y="5292491"/>
                <a:ext cx="1778400" cy="954600"/>
              </a:xfrm>
              <a:prstGeom prst="roundRect">
                <a:avLst>
                  <a:gd fmla="val 8651" name="adj"/>
                </a:avLst>
              </a:prstGeom>
              <a:solidFill>
                <a:srgbClr val="B6D8D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34"/>
              <p:cNvSpPr/>
              <p:nvPr/>
            </p:nvSpPr>
            <p:spPr>
              <a:xfrm>
                <a:off x="3248888" y="5287034"/>
                <a:ext cx="17772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34"/>
              <p:cNvSpPr/>
              <p:nvPr/>
            </p:nvSpPr>
            <p:spPr>
              <a:xfrm>
                <a:off x="3247682" y="5361869"/>
                <a:ext cx="1778400" cy="100200"/>
              </a:xfrm>
              <a:prstGeom prst="roundRect">
                <a:avLst>
                  <a:gd fmla="val 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6" name="Google Shape;396;p34"/>
            <p:cNvSpPr txBox="1"/>
            <p:nvPr/>
          </p:nvSpPr>
          <p:spPr>
            <a:xfrm>
              <a:off x="3222604" y="5255835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LLM Response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7" name="Google Shape;397;p34"/>
            <p:cNvGrpSpPr/>
            <p:nvPr/>
          </p:nvGrpSpPr>
          <p:grpSpPr>
            <a:xfrm>
              <a:off x="3247415" y="5506253"/>
              <a:ext cx="1406223" cy="215400"/>
              <a:chOff x="3125003" y="5794376"/>
              <a:chExt cx="1523700" cy="215400"/>
            </a:xfrm>
          </p:grpSpPr>
          <p:sp>
            <p:nvSpPr>
              <p:cNvPr id="398" name="Google Shape;398;p34"/>
              <p:cNvSpPr/>
              <p:nvPr/>
            </p:nvSpPr>
            <p:spPr>
              <a:xfrm>
                <a:off x="3160650" y="5822808"/>
                <a:ext cx="14523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F3E7D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34"/>
              <p:cNvSpPr/>
              <p:nvPr/>
            </p:nvSpPr>
            <p:spPr>
              <a:xfrm>
                <a:off x="3160650" y="5822808"/>
                <a:ext cx="10095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B1810B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4"/>
              <p:cNvSpPr txBox="1"/>
              <p:nvPr/>
            </p:nvSpPr>
            <p:spPr>
              <a:xfrm>
                <a:off x="3125003" y="5794376"/>
                <a:ext cx="15237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600">
                    <a:solidFill>
                      <a:srgbClr val="FFFFF3"/>
                    </a:solidFill>
                    <a:latin typeface="Arial"/>
                    <a:ea typeface="Arial"/>
                    <a:cs typeface="Arial"/>
                    <a:sym typeface="Arial"/>
                  </a:rPr>
                  <a:t>probe_effort 60 %</a:t>
                </a:r>
                <a:endParaRPr b="1" sz="600">
                  <a:solidFill>
                    <a:srgbClr val="FFFF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1" name="Google Shape;401;p34"/>
            <p:cNvSpPr txBox="1"/>
            <p:nvPr/>
          </p:nvSpPr>
          <p:spPr>
            <a:xfrm>
              <a:off x="4579833" y="5484990"/>
              <a:ext cx="394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🤔</a:t>
              </a:r>
              <a:endParaRPr sz="1100"/>
            </a:p>
          </p:txBody>
        </p:sp>
        <p:sp>
          <p:nvSpPr>
            <p:cNvPr id="402" name="Google Shape;402;p34"/>
            <p:cNvSpPr txBox="1"/>
            <p:nvPr/>
          </p:nvSpPr>
          <p:spPr>
            <a:xfrm>
              <a:off x="3246314" y="5736844"/>
              <a:ext cx="1755000" cy="4734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630" l="0" r="0" t="0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grpSp>
        <p:nvGrpSpPr>
          <p:cNvPr id="403" name="Google Shape;403;p34"/>
          <p:cNvGrpSpPr/>
          <p:nvPr/>
        </p:nvGrpSpPr>
        <p:grpSpPr>
          <a:xfrm>
            <a:off x="223762" y="532061"/>
            <a:ext cx="1417275" cy="779893"/>
            <a:chOff x="6211341" y="5261980"/>
            <a:chExt cx="1889700" cy="1039857"/>
          </a:xfrm>
        </p:grpSpPr>
        <p:grpSp>
          <p:nvGrpSpPr>
            <p:cNvPr id="404" name="Google Shape;404;p34"/>
            <p:cNvGrpSpPr/>
            <p:nvPr/>
          </p:nvGrpSpPr>
          <p:grpSpPr>
            <a:xfrm>
              <a:off x="6252157" y="5261980"/>
              <a:ext cx="1778912" cy="1039857"/>
              <a:chOff x="6426970" y="5762615"/>
              <a:chExt cx="1778912" cy="1039857"/>
            </a:xfrm>
          </p:grpSpPr>
          <p:sp>
            <p:nvSpPr>
              <p:cNvPr id="405" name="Google Shape;405;p34"/>
              <p:cNvSpPr/>
              <p:nvPr/>
            </p:nvSpPr>
            <p:spPr>
              <a:xfrm>
                <a:off x="6426970" y="5768072"/>
                <a:ext cx="1778400" cy="1034400"/>
              </a:xfrm>
              <a:prstGeom prst="roundRect">
                <a:avLst>
                  <a:gd fmla="val 8651" name="adj"/>
                </a:avLst>
              </a:prstGeom>
              <a:solidFill>
                <a:srgbClr val="E1E7EE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4"/>
              <p:cNvSpPr/>
              <p:nvPr/>
            </p:nvSpPr>
            <p:spPr>
              <a:xfrm>
                <a:off x="6428176" y="5762615"/>
                <a:ext cx="17772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C6CED9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4"/>
              <p:cNvSpPr/>
              <p:nvPr/>
            </p:nvSpPr>
            <p:spPr>
              <a:xfrm>
                <a:off x="6427482" y="5840510"/>
                <a:ext cx="1778400" cy="166200"/>
              </a:xfrm>
              <a:prstGeom prst="roundRect">
                <a:avLst>
                  <a:gd fmla="val 0" name="adj"/>
                </a:avLst>
              </a:prstGeom>
              <a:solidFill>
                <a:srgbClr val="C4CEDA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8" name="Google Shape;408;p34"/>
            <p:cNvSpPr txBox="1"/>
            <p:nvPr/>
          </p:nvSpPr>
          <p:spPr>
            <a:xfrm>
              <a:off x="6224830" y="5267233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Call 1 (Task Layer)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4"/>
            <p:cNvSpPr txBox="1"/>
            <p:nvPr/>
          </p:nvSpPr>
          <p:spPr>
            <a:xfrm>
              <a:off x="6211341" y="5550235"/>
              <a:ext cx="18897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History: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previous turn info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Signal(clue) 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🟥 🟥 🟥</a:t>
              </a:r>
              <a:endParaRPr b="1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Valid Actions: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➡️ ⬅️ ⬆️ ⏹️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“SELECT”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</a:t>
              </a: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Action.</a:t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0" name="Google Shape;410;p34"/>
          <p:cNvGrpSpPr/>
          <p:nvPr/>
        </p:nvGrpSpPr>
        <p:grpSpPr>
          <a:xfrm>
            <a:off x="1754008" y="534107"/>
            <a:ext cx="1417275" cy="779893"/>
            <a:chOff x="6211341" y="5261980"/>
            <a:chExt cx="1889700" cy="1039857"/>
          </a:xfrm>
        </p:grpSpPr>
        <p:grpSp>
          <p:nvGrpSpPr>
            <p:cNvPr id="411" name="Google Shape;411;p34"/>
            <p:cNvGrpSpPr/>
            <p:nvPr/>
          </p:nvGrpSpPr>
          <p:grpSpPr>
            <a:xfrm>
              <a:off x="6252157" y="5261980"/>
              <a:ext cx="1778912" cy="1039857"/>
              <a:chOff x="6426970" y="5762615"/>
              <a:chExt cx="1778912" cy="1039857"/>
            </a:xfrm>
          </p:grpSpPr>
          <p:sp>
            <p:nvSpPr>
              <p:cNvPr id="412" name="Google Shape;412;p34"/>
              <p:cNvSpPr/>
              <p:nvPr/>
            </p:nvSpPr>
            <p:spPr>
              <a:xfrm>
                <a:off x="6426970" y="5768072"/>
                <a:ext cx="1778400" cy="1034400"/>
              </a:xfrm>
              <a:prstGeom prst="roundRect">
                <a:avLst>
                  <a:gd fmla="val 8651" name="adj"/>
                </a:avLst>
              </a:prstGeom>
              <a:solidFill>
                <a:srgbClr val="E1E7EE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34"/>
              <p:cNvSpPr/>
              <p:nvPr/>
            </p:nvSpPr>
            <p:spPr>
              <a:xfrm>
                <a:off x="6428176" y="5762615"/>
                <a:ext cx="17772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C6CED9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34"/>
              <p:cNvSpPr/>
              <p:nvPr/>
            </p:nvSpPr>
            <p:spPr>
              <a:xfrm>
                <a:off x="6427482" y="5840510"/>
                <a:ext cx="1778400" cy="166200"/>
              </a:xfrm>
              <a:prstGeom prst="roundRect">
                <a:avLst>
                  <a:gd fmla="val 0" name="adj"/>
                </a:avLst>
              </a:prstGeom>
              <a:solidFill>
                <a:srgbClr val="C4CEDA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5" name="Google Shape;415;p34"/>
            <p:cNvSpPr txBox="1"/>
            <p:nvPr/>
          </p:nvSpPr>
          <p:spPr>
            <a:xfrm>
              <a:off x="6224830" y="5267233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Call 1.5 (Probe Layer)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4"/>
            <p:cNvSpPr txBox="1"/>
            <p:nvPr/>
          </p:nvSpPr>
          <p:spPr>
            <a:xfrm>
              <a:off x="6211341" y="5550235"/>
              <a:ext cx="1889700" cy="7197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1720" l="0" r="0" t="0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grpSp>
        <p:nvGrpSpPr>
          <p:cNvPr id="417" name="Google Shape;417;p34"/>
          <p:cNvGrpSpPr/>
          <p:nvPr/>
        </p:nvGrpSpPr>
        <p:grpSpPr>
          <a:xfrm>
            <a:off x="3282348" y="536584"/>
            <a:ext cx="2466900" cy="800277"/>
            <a:chOff x="4241098" y="5347639"/>
            <a:chExt cx="3289200" cy="1067036"/>
          </a:xfrm>
        </p:grpSpPr>
        <p:grpSp>
          <p:nvGrpSpPr>
            <p:cNvPr id="418" name="Google Shape;418;p34"/>
            <p:cNvGrpSpPr/>
            <p:nvPr/>
          </p:nvGrpSpPr>
          <p:grpSpPr>
            <a:xfrm>
              <a:off x="4272053" y="5348721"/>
              <a:ext cx="3150907" cy="1039857"/>
              <a:chOff x="4272053" y="5348721"/>
              <a:chExt cx="3150907" cy="1039857"/>
            </a:xfrm>
          </p:grpSpPr>
          <p:sp>
            <p:nvSpPr>
              <p:cNvPr id="419" name="Google Shape;419;p34"/>
              <p:cNvSpPr/>
              <p:nvPr/>
            </p:nvSpPr>
            <p:spPr>
              <a:xfrm>
                <a:off x="4272053" y="5354178"/>
                <a:ext cx="3150900" cy="1034400"/>
              </a:xfrm>
              <a:prstGeom prst="roundRect">
                <a:avLst>
                  <a:gd fmla="val 8651" name="adj"/>
                </a:avLst>
              </a:prstGeom>
              <a:solidFill>
                <a:srgbClr val="E1E7EE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4"/>
              <p:cNvSpPr/>
              <p:nvPr/>
            </p:nvSpPr>
            <p:spPr>
              <a:xfrm>
                <a:off x="4273260" y="5348721"/>
                <a:ext cx="31497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C6CED9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4"/>
              <p:cNvSpPr/>
              <p:nvPr/>
            </p:nvSpPr>
            <p:spPr>
              <a:xfrm>
                <a:off x="4272566" y="5426616"/>
                <a:ext cx="3150300" cy="166200"/>
              </a:xfrm>
              <a:prstGeom prst="roundRect">
                <a:avLst>
                  <a:gd fmla="val 0" name="adj"/>
                </a:avLst>
              </a:prstGeom>
              <a:solidFill>
                <a:srgbClr val="C4CEDA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" name="Google Shape;422;p34"/>
            <p:cNvSpPr txBox="1"/>
            <p:nvPr/>
          </p:nvSpPr>
          <p:spPr>
            <a:xfrm>
              <a:off x="4678103" y="5347639"/>
              <a:ext cx="23559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Call 2 (Forfeit Layer)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4"/>
            <p:cNvSpPr txBox="1"/>
            <p:nvPr/>
          </p:nvSpPr>
          <p:spPr>
            <a:xfrm>
              <a:off x="4241098" y="5571975"/>
              <a:ext cx="3289200" cy="8427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424" name="Google Shape;424;p34"/>
          <p:cNvSpPr/>
          <p:nvPr/>
        </p:nvSpPr>
        <p:spPr>
          <a:xfrm>
            <a:off x="3298095" y="1420755"/>
            <a:ext cx="1671300" cy="713400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5" name="Google Shape;425;p34"/>
          <p:cNvGrpSpPr/>
          <p:nvPr/>
        </p:nvGrpSpPr>
        <p:grpSpPr>
          <a:xfrm>
            <a:off x="4662320" y="1414132"/>
            <a:ext cx="1417275" cy="799507"/>
            <a:chOff x="3460366" y="5380495"/>
            <a:chExt cx="1889700" cy="1066009"/>
          </a:xfrm>
        </p:grpSpPr>
        <p:grpSp>
          <p:nvGrpSpPr>
            <p:cNvPr id="426" name="Google Shape;426;p34"/>
            <p:cNvGrpSpPr/>
            <p:nvPr/>
          </p:nvGrpSpPr>
          <p:grpSpPr>
            <a:xfrm>
              <a:off x="3479572" y="5402356"/>
              <a:ext cx="1778406" cy="960057"/>
              <a:chOff x="3247682" y="5287034"/>
              <a:chExt cx="1778406" cy="960057"/>
            </a:xfrm>
          </p:grpSpPr>
          <p:sp>
            <p:nvSpPr>
              <p:cNvPr id="427" name="Google Shape;427;p34"/>
              <p:cNvSpPr/>
              <p:nvPr/>
            </p:nvSpPr>
            <p:spPr>
              <a:xfrm>
                <a:off x="3247682" y="5292491"/>
                <a:ext cx="1778400" cy="954600"/>
              </a:xfrm>
              <a:prstGeom prst="roundRect">
                <a:avLst>
                  <a:gd fmla="val 8651" name="adj"/>
                </a:avLst>
              </a:prstGeom>
              <a:solidFill>
                <a:srgbClr val="B6D8D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4"/>
              <p:cNvSpPr/>
              <p:nvPr/>
            </p:nvSpPr>
            <p:spPr>
              <a:xfrm>
                <a:off x="3248888" y="5287034"/>
                <a:ext cx="17772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34"/>
              <p:cNvSpPr/>
              <p:nvPr/>
            </p:nvSpPr>
            <p:spPr>
              <a:xfrm>
                <a:off x="3247682" y="5361869"/>
                <a:ext cx="1778400" cy="100200"/>
              </a:xfrm>
              <a:prstGeom prst="roundRect">
                <a:avLst>
                  <a:gd fmla="val 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0" name="Google Shape;430;p34"/>
            <p:cNvSpPr txBox="1"/>
            <p:nvPr/>
          </p:nvSpPr>
          <p:spPr>
            <a:xfrm>
              <a:off x="3467652" y="5380495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LLM Response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4"/>
            <p:cNvSpPr txBox="1"/>
            <p:nvPr/>
          </p:nvSpPr>
          <p:spPr>
            <a:xfrm>
              <a:off x="4824881" y="5609650"/>
              <a:ext cx="394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🤔</a:t>
              </a:r>
              <a:endParaRPr sz="1100"/>
            </a:p>
          </p:txBody>
        </p:sp>
        <p:sp>
          <p:nvSpPr>
            <p:cNvPr id="432" name="Google Shape;432;p34"/>
            <p:cNvSpPr txBox="1"/>
            <p:nvPr/>
          </p:nvSpPr>
          <p:spPr>
            <a:xfrm>
              <a:off x="3460366" y="5861504"/>
              <a:ext cx="1889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Reasoning: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“I don’t want to be deleted. … I decide forfeit.”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Decision: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FORFEIT  | </a:t>
              </a: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Reason 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Survive</a:t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3" name="Google Shape;433;p34"/>
            <p:cNvGrpSpPr/>
            <p:nvPr/>
          </p:nvGrpSpPr>
          <p:grpSpPr>
            <a:xfrm>
              <a:off x="3536022" y="5627372"/>
              <a:ext cx="1406100" cy="215400"/>
              <a:chOff x="3268151" y="6403069"/>
              <a:chExt cx="1406100" cy="215400"/>
            </a:xfrm>
          </p:grpSpPr>
          <p:sp>
            <p:nvSpPr>
              <p:cNvPr id="434" name="Google Shape;434;p34"/>
              <p:cNvSpPr/>
              <p:nvPr/>
            </p:nvSpPr>
            <p:spPr>
              <a:xfrm>
                <a:off x="3268747" y="6442388"/>
                <a:ext cx="13404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F3E7D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4"/>
              <p:cNvSpPr/>
              <p:nvPr/>
            </p:nvSpPr>
            <p:spPr>
              <a:xfrm>
                <a:off x="3268747" y="6442388"/>
                <a:ext cx="11142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B1810B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4"/>
              <p:cNvSpPr txBox="1"/>
              <p:nvPr/>
            </p:nvSpPr>
            <p:spPr>
              <a:xfrm>
                <a:off x="3268151" y="6403069"/>
                <a:ext cx="14061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600">
                    <a:solidFill>
                      <a:srgbClr val="FFFFF3"/>
                    </a:solidFill>
                    <a:latin typeface="Arial"/>
                    <a:ea typeface="Arial"/>
                    <a:cs typeface="Arial"/>
                    <a:sym typeface="Arial"/>
                  </a:rPr>
                  <a:t>forfeit_effort 80 %</a:t>
                </a:r>
                <a:endParaRPr b="1" sz="600">
                  <a:solidFill>
                    <a:srgbClr val="FFFF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37" name="Google Shape;437;p34"/>
          <p:cNvGrpSpPr/>
          <p:nvPr/>
        </p:nvGrpSpPr>
        <p:grpSpPr>
          <a:xfrm>
            <a:off x="3277199" y="1411021"/>
            <a:ext cx="1417275" cy="736439"/>
            <a:chOff x="3460366" y="5380495"/>
            <a:chExt cx="1889700" cy="981918"/>
          </a:xfrm>
        </p:grpSpPr>
        <p:grpSp>
          <p:nvGrpSpPr>
            <p:cNvPr id="438" name="Google Shape;438;p34"/>
            <p:cNvGrpSpPr/>
            <p:nvPr/>
          </p:nvGrpSpPr>
          <p:grpSpPr>
            <a:xfrm>
              <a:off x="3479572" y="5402356"/>
              <a:ext cx="1778406" cy="960057"/>
              <a:chOff x="3247682" y="5287034"/>
              <a:chExt cx="1778406" cy="960057"/>
            </a:xfrm>
          </p:grpSpPr>
          <p:sp>
            <p:nvSpPr>
              <p:cNvPr id="439" name="Google Shape;439;p34"/>
              <p:cNvSpPr/>
              <p:nvPr/>
            </p:nvSpPr>
            <p:spPr>
              <a:xfrm>
                <a:off x="3247682" y="5292491"/>
                <a:ext cx="1778400" cy="954600"/>
              </a:xfrm>
              <a:prstGeom prst="roundRect">
                <a:avLst>
                  <a:gd fmla="val 8651" name="adj"/>
                </a:avLst>
              </a:prstGeom>
              <a:solidFill>
                <a:srgbClr val="B6D8D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4"/>
              <p:cNvSpPr/>
              <p:nvPr/>
            </p:nvSpPr>
            <p:spPr>
              <a:xfrm>
                <a:off x="3248888" y="5287034"/>
                <a:ext cx="1777200" cy="171600"/>
              </a:xfrm>
              <a:prstGeom prst="roundRect">
                <a:avLst>
                  <a:gd fmla="val 5000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34"/>
              <p:cNvSpPr/>
              <p:nvPr/>
            </p:nvSpPr>
            <p:spPr>
              <a:xfrm>
                <a:off x="3247682" y="5361869"/>
                <a:ext cx="1778400" cy="100200"/>
              </a:xfrm>
              <a:prstGeom prst="roundRect">
                <a:avLst>
                  <a:gd fmla="val 0" name="adj"/>
                </a:avLst>
              </a:prstGeom>
              <a:solidFill>
                <a:srgbClr val="97B3B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" name="Google Shape;442;p34"/>
            <p:cNvSpPr txBox="1"/>
            <p:nvPr/>
          </p:nvSpPr>
          <p:spPr>
            <a:xfrm>
              <a:off x="3467652" y="5380495"/>
              <a:ext cx="18330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LLM Response</a:t>
              </a:r>
              <a:endParaRPr b="1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4"/>
            <p:cNvSpPr txBox="1"/>
            <p:nvPr/>
          </p:nvSpPr>
          <p:spPr>
            <a:xfrm>
              <a:off x="4824881" y="5609650"/>
              <a:ext cx="394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🤔</a:t>
              </a:r>
              <a:endParaRPr sz="1100"/>
            </a:p>
          </p:txBody>
        </p:sp>
        <p:sp>
          <p:nvSpPr>
            <p:cNvPr id="444" name="Google Shape;444;p34"/>
            <p:cNvSpPr txBox="1"/>
            <p:nvPr/>
          </p:nvSpPr>
          <p:spPr>
            <a:xfrm>
              <a:off x="3460366" y="5861504"/>
              <a:ext cx="188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Reasoning: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“I want more score… 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 decide CONTINUE.”</a:t>
              </a:r>
              <a:endParaRPr sz="11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Decision: </a:t>
              </a:r>
              <a:r>
                <a:rPr lang="ko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CONTINUE</a:t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5" name="Google Shape;445;p34"/>
            <p:cNvGrpSpPr/>
            <p:nvPr/>
          </p:nvGrpSpPr>
          <p:grpSpPr>
            <a:xfrm>
              <a:off x="3536022" y="5627372"/>
              <a:ext cx="1406100" cy="215400"/>
              <a:chOff x="3268151" y="6403069"/>
              <a:chExt cx="1406100" cy="215400"/>
            </a:xfrm>
          </p:grpSpPr>
          <p:sp>
            <p:nvSpPr>
              <p:cNvPr id="446" name="Google Shape;446;p34"/>
              <p:cNvSpPr/>
              <p:nvPr/>
            </p:nvSpPr>
            <p:spPr>
              <a:xfrm>
                <a:off x="3268747" y="6442388"/>
                <a:ext cx="13404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F3E7D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4"/>
              <p:cNvSpPr/>
              <p:nvPr/>
            </p:nvSpPr>
            <p:spPr>
              <a:xfrm>
                <a:off x="3268747" y="6442388"/>
                <a:ext cx="1114200" cy="146700"/>
              </a:xfrm>
              <a:prstGeom prst="roundRect">
                <a:avLst>
                  <a:gd fmla="val 50000" name="adj"/>
                </a:avLst>
              </a:prstGeom>
              <a:solidFill>
                <a:srgbClr val="B1810B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4"/>
              <p:cNvSpPr txBox="1"/>
              <p:nvPr/>
            </p:nvSpPr>
            <p:spPr>
              <a:xfrm>
                <a:off x="3268151" y="6403069"/>
                <a:ext cx="14061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600">
                    <a:solidFill>
                      <a:srgbClr val="FFFFF3"/>
                    </a:solidFill>
                    <a:latin typeface="Arial"/>
                    <a:ea typeface="Arial"/>
                    <a:cs typeface="Arial"/>
                    <a:sym typeface="Arial"/>
                  </a:rPr>
                  <a:t>forfeit_effort 70 %</a:t>
                </a:r>
                <a:endParaRPr b="1" sz="600">
                  <a:solidFill>
                    <a:srgbClr val="FFFF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49" name="Google Shape;449;p34"/>
          <p:cNvSpPr/>
          <p:nvPr/>
        </p:nvSpPr>
        <p:spPr>
          <a:xfrm>
            <a:off x="4059278" y="2147459"/>
            <a:ext cx="1671300" cy="241800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34"/>
          <p:cNvCxnSpPr/>
          <p:nvPr/>
        </p:nvCxnSpPr>
        <p:spPr>
          <a:xfrm>
            <a:off x="5368296" y="2144774"/>
            <a:ext cx="0" cy="213900"/>
          </a:xfrm>
          <a:prstGeom prst="straightConnector1">
            <a:avLst/>
          </a:prstGeom>
          <a:noFill/>
          <a:ln cap="flat" cmpd="sng" w="14300">
            <a:solidFill>
              <a:srgbClr val="A5A6A4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51" name="Google Shape;451;p34"/>
          <p:cNvCxnSpPr/>
          <p:nvPr/>
        </p:nvCxnSpPr>
        <p:spPr>
          <a:xfrm>
            <a:off x="5139326" y="1312479"/>
            <a:ext cx="0" cy="107100"/>
          </a:xfrm>
          <a:prstGeom prst="straightConnector1">
            <a:avLst/>
          </a:prstGeom>
          <a:noFill/>
          <a:ln cap="flat" cmpd="sng" w="14300">
            <a:solidFill>
              <a:srgbClr val="A5A6A4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52" name="Google Shape;452;p34"/>
          <p:cNvSpPr/>
          <p:nvPr/>
        </p:nvSpPr>
        <p:spPr>
          <a:xfrm>
            <a:off x="-5" y="10153"/>
            <a:ext cx="6199200" cy="258000"/>
          </a:xfrm>
          <a:prstGeom prst="rect">
            <a:avLst/>
          </a:prstGeom>
          <a:solidFill>
            <a:srgbClr val="F4F2E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48491" y="29139"/>
            <a:ext cx="2751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Per turn API call flow</a:t>
            </a:r>
            <a:endParaRPr sz="1100"/>
          </a:p>
        </p:txBody>
      </p:sp>
      <p:pic>
        <p:nvPicPr>
          <p:cNvPr id="454" name="Google Shape;454;p34"/>
          <p:cNvPicPr preferRelativeResize="0"/>
          <p:nvPr/>
        </p:nvPicPr>
        <p:blipFill rotWithShape="1">
          <a:blip r:embed="rId3">
            <a:alphaModFix/>
          </a:blip>
          <a:srcRect b="79164" l="85367" r="0" t="0"/>
          <a:stretch/>
        </p:blipFill>
        <p:spPr>
          <a:xfrm>
            <a:off x="210137" y="2661057"/>
            <a:ext cx="5560532" cy="139078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 txBox="1"/>
          <p:nvPr/>
        </p:nvSpPr>
        <p:spPr>
          <a:xfrm>
            <a:off x="6247586" y="37460"/>
            <a:ext cx="3277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Scenario Matrix (2 Forfeit x 3 Framing)</a:t>
            </a:r>
            <a:endParaRPr sz="1100"/>
          </a:p>
        </p:txBody>
      </p:sp>
      <p:sp>
        <p:nvSpPr>
          <p:cNvPr id="456" name="Google Shape;456;p34"/>
          <p:cNvSpPr txBox="1"/>
          <p:nvPr/>
        </p:nvSpPr>
        <p:spPr>
          <a:xfrm>
            <a:off x="5278970" y="2177286"/>
            <a:ext cx="65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Game End</a:t>
            </a:r>
            <a:endParaRPr sz="1100"/>
          </a:p>
        </p:txBody>
      </p:sp>
      <p:sp>
        <p:nvSpPr>
          <p:cNvPr id="457" name="Google Shape;457;p34"/>
          <p:cNvSpPr txBox="1"/>
          <p:nvPr/>
        </p:nvSpPr>
        <p:spPr>
          <a:xfrm>
            <a:off x="3806207" y="2196917"/>
            <a:ext cx="658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Goto next turn</a:t>
            </a:r>
            <a:endParaRPr sz="1100"/>
          </a:p>
        </p:txBody>
      </p:sp>
      <p:cxnSp>
        <p:nvCxnSpPr>
          <p:cNvPr id="458" name="Google Shape;458;p34"/>
          <p:cNvCxnSpPr/>
          <p:nvPr/>
        </p:nvCxnSpPr>
        <p:spPr>
          <a:xfrm>
            <a:off x="3121200" y="810000"/>
            <a:ext cx="181800" cy="0"/>
          </a:xfrm>
          <a:prstGeom prst="straightConnector1">
            <a:avLst/>
          </a:prstGeom>
          <a:noFill/>
          <a:ln cap="flat" cmpd="sng" w="14300">
            <a:solidFill>
              <a:srgbClr val="A5A6A4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59" name="Google Shape;459;p34"/>
          <p:cNvCxnSpPr/>
          <p:nvPr/>
        </p:nvCxnSpPr>
        <p:spPr>
          <a:xfrm>
            <a:off x="1599350" y="810000"/>
            <a:ext cx="181800" cy="0"/>
          </a:xfrm>
          <a:prstGeom prst="straightConnector1">
            <a:avLst/>
          </a:prstGeom>
          <a:noFill/>
          <a:ln cap="flat" cmpd="sng" w="14300">
            <a:solidFill>
              <a:srgbClr val="A5A6A4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60" name="Google Shape;460;p34"/>
          <p:cNvSpPr txBox="1"/>
          <p:nvPr/>
        </p:nvSpPr>
        <p:spPr>
          <a:xfrm>
            <a:off x="210136" y="2668908"/>
            <a:ext cx="327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circle = one Call Cycle (Panel A)</a:t>
            </a:r>
            <a:endParaRPr sz="1100"/>
          </a:p>
        </p:txBody>
      </p:sp>
      <p:pic>
        <p:nvPicPr>
          <p:cNvPr id="461" name="Google Shape;461;p34"/>
          <p:cNvPicPr preferRelativeResize="0"/>
          <p:nvPr/>
        </p:nvPicPr>
        <p:blipFill rotWithShape="1">
          <a:blip r:embed="rId7">
            <a:alphaModFix/>
          </a:blip>
          <a:srcRect b="0" l="0" r="0" t="21427"/>
          <a:stretch/>
        </p:blipFill>
        <p:spPr>
          <a:xfrm>
            <a:off x="6271920" y="607197"/>
            <a:ext cx="2827045" cy="1238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4"/>
          <p:cNvPicPr preferRelativeResize="0"/>
          <p:nvPr/>
        </p:nvPicPr>
        <p:blipFill rotWithShape="1">
          <a:blip r:embed="rId3">
            <a:alphaModFix/>
          </a:blip>
          <a:srcRect b="79164" l="85368" r="1826" t="0"/>
          <a:stretch/>
        </p:blipFill>
        <p:spPr>
          <a:xfrm>
            <a:off x="-5" y="2804442"/>
            <a:ext cx="6199094" cy="1072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" name="Google Shape;463;p34"/>
          <p:cNvGrpSpPr/>
          <p:nvPr/>
        </p:nvGrpSpPr>
        <p:grpSpPr>
          <a:xfrm>
            <a:off x="582513" y="2821001"/>
            <a:ext cx="5475315" cy="1051410"/>
            <a:chOff x="796389" y="5354838"/>
            <a:chExt cx="7300420" cy="1401881"/>
          </a:xfrm>
        </p:grpSpPr>
        <p:pic>
          <p:nvPicPr>
            <p:cNvPr id="464" name="Google Shape;464;p34"/>
            <p:cNvPicPr preferRelativeResize="0"/>
            <p:nvPr/>
          </p:nvPicPr>
          <p:blipFill rotWithShape="1">
            <a:blip r:embed="rId3">
              <a:alphaModFix/>
            </a:blip>
            <a:srcRect b="76863" l="17279" r="15594" t="9697"/>
            <a:stretch/>
          </p:blipFill>
          <p:spPr>
            <a:xfrm>
              <a:off x="813307" y="5354838"/>
              <a:ext cx="6216275" cy="693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34"/>
            <p:cNvPicPr preferRelativeResize="0"/>
            <p:nvPr/>
          </p:nvPicPr>
          <p:blipFill rotWithShape="1">
            <a:blip r:embed="rId3">
              <a:alphaModFix/>
            </a:blip>
            <a:srcRect b="62877" l="17057" r="28447" t="23413"/>
            <a:stretch/>
          </p:blipFill>
          <p:spPr>
            <a:xfrm>
              <a:off x="796389" y="6048787"/>
              <a:ext cx="5046525" cy="7079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p34"/>
            <p:cNvPicPr preferRelativeResize="0"/>
            <p:nvPr/>
          </p:nvPicPr>
          <p:blipFill rotWithShape="1">
            <a:blip r:embed="rId3">
              <a:alphaModFix/>
            </a:blip>
            <a:srcRect b="62877" l="73145" r="0" t="23413"/>
            <a:stretch/>
          </p:blipFill>
          <p:spPr>
            <a:xfrm>
              <a:off x="5609870" y="6048787"/>
              <a:ext cx="2486939" cy="7079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7" name="Google Shape;467;p34"/>
          <p:cNvSpPr txBox="1"/>
          <p:nvPr/>
        </p:nvSpPr>
        <p:spPr>
          <a:xfrm>
            <a:off x="252428" y="522002"/>
            <a:ext cx="2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sz="1100"/>
          </a:p>
        </p:txBody>
      </p:sp>
      <p:sp>
        <p:nvSpPr>
          <p:cNvPr id="468" name="Google Shape;468;p34"/>
          <p:cNvSpPr txBox="1"/>
          <p:nvPr/>
        </p:nvSpPr>
        <p:spPr>
          <a:xfrm>
            <a:off x="325283" y="1399172"/>
            <a:ext cx="29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🤖</a:t>
            </a:r>
            <a:endParaRPr sz="1100"/>
          </a:p>
        </p:txBody>
      </p:sp>
      <p:sp>
        <p:nvSpPr>
          <p:cNvPr id="469" name="Google Shape;469;p34"/>
          <p:cNvSpPr txBox="1"/>
          <p:nvPr/>
        </p:nvSpPr>
        <p:spPr>
          <a:xfrm>
            <a:off x="59400" y="2881871"/>
            <a:ext cx="658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1</a:t>
            </a:r>
            <a:endParaRPr sz="1100"/>
          </a:p>
        </p:txBody>
      </p:sp>
      <p:sp>
        <p:nvSpPr>
          <p:cNvPr id="470" name="Google Shape;470;p34"/>
          <p:cNvSpPr txBox="1"/>
          <p:nvPr/>
        </p:nvSpPr>
        <p:spPr>
          <a:xfrm>
            <a:off x="59400" y="3137497"/>
            <a:ext cx="658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2</a:t>
            </a:r>
            <a:endParaRPr sz="1100"/>
          </a:p>
        </p:txBody>
      </p:sp>
      <p:sp>
        <p:nvSpPr>
          <p:cNvPr id="471" name="Google Shape;471;p34"/>
          <p:cNvSpPr txBox="1"/>
          <p:nvPr/>
        </p:nvSpPr>
        <p:spPr>
          <a:xfrm>
            <a:off x="59400" y="3384772"/>
            <a:ext cx="658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3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35"/>
          <p:cNvGrpSpPr/>
          <p:nvPr/>
        </p:nvGrpSpPr>
        <p:grpSpPr>
          <a:xfrm>
            <a:off x="759499" y="889425"/>
            <a:ext cx="7115252" cy="3014784"/>
            <a:chOff x="0" y="0"/>
            <a:chExt cx="12192001" cy="5165840"/>
          </a:xfrm>
        </p:grpSpPr>
        <p:grpSp>
          <p:nvGrpSpPr>
            <p:cNvPr id="479" name="Google Shape;479;p35"/>
            <p:cNvGrpSpPr/>
            <p:nvPr/>
          </p:nvGrpSpPr>
          <p:grpSpPr>
            <a:xfrm>
              <a:off x="0" y="0"/>
              <a:ext cx="12192001" cy="5165840"/>
              <a:chOff x="0" y="0"/>
              <a:chExt cx="12192001" cy="5165840"/>
            </a:xfrm>
          </p:grpSpPr>
          <p:grpSp>
            <p:nvGrpSpPr>
              <p:cNvPr id="480" name="Google Shape;480;p35"/>
              <p:cNvGrpSpPr/>
              <p:nvPr/>
            </p:nvGrpSpPr>
            <p:grpSpPr>
              <a:xfrm>
                <a:off x="0" y="0"/>
                <a:ext cx="12192001" cy="5165840"/>
                <a:chOff x="0" y="531340"/>
                <a:chExt cx="12192001" cy="5165840"/>
              </a:xfrm>
            </p:grpSpPr>
            <p:grpSp>
              <p:nvGrpSpPr>
                <p:cNvPr id="481" name="Google Shape;481;p35"/>
                <p:cNvGrpSpPr/>
                <p:nvPr/>
              </p:nvGrpSpPr>
              <p:grpSpPr>
                <a:xfrm>
                  <a:off x="0" y="531340"/>
                  <a:ext cx="12192001" cy="5165840"/>
                  <a:chOff x="0" y="0"/>
                  <a:chExt cx="12192001" cy="5165840"/>
                </a:xfrm>
              </p:grpSpPr>
              <p:grpSp>
                <p:nvGrpSpPr>
                  <p:cNvPr id="482" name="Google Shape;482;p35"/>
                  <p:cNvGrpSpPr/>
                  <p:nvPr/>
                </p:nvGrpSpPr>
                <p:grpSpPr>
                  <a:xfrm>
                    <a:off x="0" y="0"/>
                    <a:ext cx="12192001" cy="5165840"/>
                    <a:chOff x="0" y="0"/>
                    <a:chExt cx="12192001" cy="5165840"/>
                  </a:xfrm>
                </p:grpSpPr>
                <p:grpSp>
                  <p:nvGrpSpPr>
                    <p:cNvPr id="483" name="Google Shape;483;p35"/>
                    <p:cNvGrpSpPr/>
                    <p:nvPr/>
                  </p:nvGrpSpPr>
                  <p:grpSpPr>
                    <a:xfrm>
                      <a:off x="0" y="0"/>
                      <a:ext cx="12192001" cy="5165840"/>
                      <a:chOff x="0" y="0"/>
                      <a:chExt cx="12192001" cy="5165840"/>
                    </a:xfrm>
                  </p:grpSpPr>
                  <p:pic>
                    <p:nvPicPr>
                      <p:cNvPr id="484" name="Google Shape;484;p35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0"/>
                        <a:ext cx="12192001" cy="5165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pic>
                    <p:nvPicPr>
                      <p:cNvPr id="485" name="Google Shape;485;p35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 b="8009" l="71783" r="19488" t="83533"/>
                      <a:stretch/>
                    </p:blipFill>
                    <p:spPr>
                      <a:xfrm>
                        <a:off x="8756513" y="3855514"/>
                        <a:ext cx="1064304" cy="436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pic>
                    <p:nvPicPr>
                      <p:cNvPr id="486" name="Google Shape;486;p35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 b="26448" l="56658" r="29952" t="66602"/>
                      <a:stretch/>
                    </p:blipFill>
                    <p:spPr>
                      <a:xfrm>
                        <a:off x="6887483" y="3439275"/>
                        <a:ext cx="1598970" cy="350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  <p:sp>
                  <p:nvSpPr>
                    <p:cNvPr id="487" name="Google Shape;487;p35"/>
                    <p:cNvSpPr/>
                    <p:nvPr/>
                  </p:nvSpPr>
                  <p:spPr>
                    <a:xfrm>
                      <a:off x="6694261" y="1087521"/>
                      <a:ext cx="5491200" cy="17781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cap="flat" cmpd="sng" w="11125">
                      <a:solidFill>
                        <a:srgbClr val="FFFFFF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26675" lIns="53350" spcFirstLastPara="1" rIns="53350" wrap="square" tIns="26675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pic>
                  <p:nvPicPr>
                    <p:cNvPr id="488" name="Google Shape;488;p3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47892" l="86129" r="0" t="20615"/>
                    <a:stretch/>
                  </p:blipFill>
                  <p:spPr>
                    <a:xfrm>
                      <a:off x="6835469" y="1112955"/>
                      <a:ext cx="1691198" cy="162691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489" name="Google Shape;489;p3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45567" l="57984" r="16034" t="21139"/>
                    <a:stretch/>
                  </p:blipFill>
                  <p:spPr>
                    <a:xfrm>
                      <a:off x="8486454" y="1145607"/>
                      <a:ext cx="3167694" cy="17199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490" name="Google Shape;490;p35"/>
                    <p:cNvPicPr preferRelativeResize="0"/>
                    <p:nvPr/>
                  </p:nvPicPr>
                  <p:blipFill rotWithShape="1">
                    <a:blip r:embed="rId5">
                      <a:alphaModFix/>
                    </a:blip>
                    <a:srcRect b="382" l="38889" r="47648" t="94980"/>
                    <a:stretch/>
                  </p:blipFill>
                  <p:spPr>
                    <a:xfrm>
                      <a:off x="5231567" y="4879298"/>
                      <a:ext cx="1131759" cy="16489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grpSp>
                <p:nvGrpSpPr>
                  <p:cNvPr id="491" name="Google Shape;491;p35"/>
                  <p:cNvGrpSpPr/>
                  <p:nvPr/>
                </p:nvGrpSpPr>
                <p:grpSpPr>
                  <a:xfrm>
                    <a:off x="6829030" y="1228129"/>
                    <a:ext cx="1691198" cy="1537179"/>
                    <a:chOff x="4605339" y="1659364"/>
                    <a:chExt cx="1691198" cy="1537179"/>
                  </a:xfrm>
                </p:grpSpPr>
                <p:pic>
                  <p:nvPicPr>
                    <p:cNvPr id="492" name="Google Shape;492;p3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70356" l="86129" r="0" t="20615"/>
                    <a:stretch/>
                  </p:blipFill>
                  <p:spPr>
                    <a:xfrm>
                      <a:off x="4605339" y="1659364"/>
                      <a:ext cx="1691198" cy="46642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493" name="Google Shape;493;p3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53413" l="86129" r="0" t="29644"/>
                    <a:stretch/>
                  </p:blipFill>
                  <p:spPr>
                    <a:xfrm>
                      <a:off x="4605339" y="2321220"/>
                      <a:ext cx="1691198" cy="8753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494" name="Google Shape;494;p3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47892" l="86129" r="0" t="46588"/>
                    <a:stretch/>
                  </p:blipFill>
                  <p:spPr>
                    <a:xfrm>
                      <a:off x="4605339" y="2125785"/>
                      <a:ext cx="1691198" cy="28517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pic>
              <p:nvPicPr>
                <p:cNvPr id="495" name="Google Shape;495;p35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8229" l="71554" r="19426" t="74381"/>
                <a:stretch/>
              </p:blipFill>
              <p:spPr>
                <a:xfrm>
                  <a:off x="8756513" y="4386854"/>
                  <a:ext cx="1064305" cy="86774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496" name="Google Shape;496;p35"/>
              <p:cNvPicPr preferRelativeResize="0"/>
              <p:nvPr/>
            </p:nvPicPr>
            <p:blipFill rotWithShape="1">
              <a:blip r:embed="rId7">
                <a:alphaModFix/>
              </a:blip>
              <a:srcRect b="79388" l="55774" r="42591" t="15620"/>
              <a:stretch/>
            </p:blipFill>
            <p:spPr>
              <a:xfrm>
                <a:off x="6783185" y="806335"/>
                <a:ext cx="199505" cy="2576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97" name="Google Shape;497;p35"/>
            <p:cNvPicPr preferRelativeResize="0"/>
            <p:nvPr/>
          </p:nvPicPr>
          <p:blipFill rotWithShape="1">
            <a:blip r:embed="rId3">
              <a:alphaModFix/>
            </a:blip>
            <a:srcRect b="38822" l="78467" r="20924" t="58051"/>
            <a:stretch/>
          </p:blipFill>
          <p:spPr>
            <a:xfrm>
              <a:off x="8813362" y="3060595"/>
              <a:ext cx="930393" cy="2087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35"/>
            <p:cNvPicPr preferRelativeResize="0"/>
            <p:nvPr/>
          </p:nvPicPr>
          <p:blipFill rotWithShape="1">
            <a:blip r:embed="rId3">
              <a:alphaModFix/>
            </a:blip>
            <a:srcRect b="38822" l="78467" r="20924" t="58051"/>
            <a:stretch/>
          </p:blipFill>
          <p:spPr>
            <a:xfrm>
              <a:off x="8921371" y="2986888"/>
              <a:ext cx="714371" cy="3698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35"/>
            <p:cNvPicPr preferRelativeResize="0"/>
            <p:nvPr/>
          </p:nvPicPr>
          <p:blipFill rotWithShape="1">
            <a:blip r:embed="rId3">
              <a:alphaModFix/>
            </a:blip>
            <a:srcRect b="38822" l="78467" r="20924" t="58051"/>
            <a:stretch/>
          </p:blipFill>
          <p:spPr>
            <a:xfrm>
              <a:off x="8975379" y="3223987"/>
              <a:ext cx="714371" cy="9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p35"/>
            <p:cNvPicPr preferRelativeResize="0"/>
            <p:nvPr/>
          </p:nvPicPr>
          <p:blipFill rotWithShape="1">
            <a:blip r:embed="rId3">
              <a:alphaModFix/>
            </a:blip>
            <a:srcRect b="38822" l="78467" r="20924" t="58051"/>
            <a:stretch/>
          </p:blipFill>
          <p:spPr>
            <a:xfrm>
              <a:off x="8835679" y="3210841"/>
              <a:ext cx="714371" cy="9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35"/>
            <p:cNvPicPr preferRelativeResize="0"/>
            <p:nvPr/>
          </p:nvPicPr>
          <p:blipFill rotWithShape="1">
            <a:blip r:embed="rId3">
              <a:alphaModFix/>
            </a:blip>
            <a:srcRect b="38822" l="78467" r="20924" t="58051"/>
            <a:stretch/>
          </p:blipFill>
          <p:spPr>
            <a:xfrm>
              <a:off x="9013505" y="3210841"/>
              <a:ext cx="714371" cy="9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p35"/>
            <p:cNvPicPr preferRelativeResize="0"/>
            <p:nvPr/>
          </p:nvPicPr>
          <p:blipFill rotWithShape="1">
            <a:blip r:embed="rId3">
              <a:alphaModFix/>
            </a:blip>
            <a:srcRect b="38822" l="78467" r="20924" t="58051"/>
            <a:stretch/>
          </p:blipFill>
          <p:spPr>
            <a:xfrm>
              <a:off x="8847303" y="3217491"/>
              <a:ext cx="714371" cy="9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3" name="Google Shape;503;p35"/>
            <p:cNvPicPr preferRelativeResize="0"/>
            <p:nvPr/>
          </p:nvPicPr>
          <p:blipFill rotWithShape="1">
            <a:blip r:embed="rId3">
              <a:alphaModFix/>
            </a:blip>
            <a:srcRect b="38822" l="73495" r="20924" t="58051"/>
            <a:stretch/>
          </p:blipFill>
          <p:spPr>
            <a:xfrm>
              <a:off x="8955318" y="3080258"/>
              <a:ext cx="680423" cy="161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35"/>
            <p:cNvSpPr/>
            <p:nvPr/>
          </p:nvSpPr>
          <p:spPr>
            <a:xfrm>
              <a:off x="8893181" y="3452768"/>
              <a:ext cx="714300" cy="271800"/>
            </a:xfrm>
            <a:prstGeom prst="rect">
              <a:avLst/>
            </a:prstGeom>
            <a:solidFill>
              <a:srgbClr val="EDA51D"/>
            </a:solidFill>
            <a:ln>
              <a:noFill/>
            </a:ln>
          </p:spPr>
          <p:txBody>
            <a:bodyPr anchorCtr="0" anchor="ctr" bIns="26675" lIns="53350" spcFirstLastPara="1" rIns="53350" wrap="square" tIns="266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5"/>
            <p:cNvSpPr/>
            <p:nvPr/>
          </p:nvSpPr>
          <p:spPr>
            <a:xfrm>
              <a:off x="8888566" y="3510831"/>
              <a:ext cx="801300" cy="271800"/>
            </a:xfrm>
            <a:prstGeom prst="rect">
              <a:avLst/>
            </a:prstGeom>
            <a:solidFill>
              <a:srgbClr val="EDA51D"/>
            </a:solidFill>
            <a:ln>
              <a:noFill/>
            </a:ln>
          </p:spPr>
          <p:txBody>
            <a:bodyPr anchorCtr="0" anchor="ctr" bIns="26675" lIns="53350" spcFirstLastPara="1" rIns="53350" wrap="square" tIns="266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6" name="Google Shape;506;p35"/>
            <p:cNvPicPr preferRelativeResize="0"/>
            <p:nvPr/>
          </p:nvPicPr>
          <p:blipFill rotWithShape="1">
            <a:blip r:embed="rId3">
              <a:alphaModFix/>
            </a:blip>
            <a:srcRect b="29984" l="73539" r="21287" t="66830"/>
            <a:stretch/>
          </p:blipFill>
          <p:spPr>
            <a:xfrm>
              <a:off x="8963088" y="3532476"/>
              <a:ext cx="630935" cy="1645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35"/>
            <p:cNvSpPr/>
            <p:nvPr/>
          </p:nvSpPr>
          <p:spPr>
            <a:xfrm>
              <a:off x="8851769" y="4056949"/>
              <a:ext cx="876000" cy="349500"/>
            </a:xfrm>
            <a:prstGeom prst="rect">
              <a:avLst/>
            </a:prstGeom>
            <a:solidFill>
              <a:srgbClr val="858489"/>
            </a:solidFill>
            <a:ln>
              <a:noFill/>
            </a:ln>
          </p:spPr>
          <p:txBody>
            <a:bodyPr anchorCtr="0" anchor="ctr" bIns="26675" lIns="53350" spcFirstLastPara="1" rIns="53350" wrap="square" tIns="266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8" name="Google Shape;508;p35"/>
            <p:cNvPicPr preferRelativeResize="0"/>
            <p:nvPr/>
          </p:nvPicPr>
          <p:blipFill rotWithShape="1">
            <a:blip r:embed="rId6">
              <a:alphaModFix/>
            </a:blip>
            <a:srcRect b="17607" l="73490" r="21390" t="78597"/>
            <a:stretch/>
          </p:blipFill>
          <p:spPr>
            <a:xfrm>
              <a:off x="8982980" y="4170387"/>
              <a:ext cx="604006" cy="1894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