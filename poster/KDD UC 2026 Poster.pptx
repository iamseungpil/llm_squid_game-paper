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3"/>
  </p:notesMasterIdLst>
  <p:sldIdLst>
    <p:sldId id="259" r:id="rId2"/>
  </p:sldIdLst>
  <p:sldSz cx="33480375" cy="4715986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pos="1005">
          <p15:clr>
            <a:srgbClr val="9AA0A6"/>
          </p15:clr>
        </p15:guide>
        <p15:guide id="2" pos="20741">
          <p15:clr>
            <a:srgbClr val="9AA0A6"/>
          </p15:clr>
        </p15:guide>
        <p15:guide id="3" pos="10420">
          <p15:clr>
            <a:srgbClr val="9AA0A6"/>
          </p15:clr>
        </p15:guide>
        <p15:guide id="4" pos="10670">
          <p15:clr>
            <a:srgbClr val="9AA0A6"/>
          </p15:clr>
        </p15:guide>
        <p15:guide id="5" pos="10545">
          <p15:clr>
            <a:srgbClr val="FF0000"/>
          </p15:clr>
        </p15:guide>
        <p15:guide id="6" pos="1389">
          <p15:clr>
            <a:srgbClr val="9AA0A6"/>
          </p15:clr>
        </p15:guide>
        <p15:guide id="7" orient="horz" pos="1313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" roundtripDataSignature="AMtx7mi1IWCS91WX3nrqG0p1WlhPviuD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9F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323"/>
    <p:restoredTop sz="94678"/>
  </p:normalViewPr>
  <p:slideViewPr>
    <p:cSldViewPr snapToGrid="0">
      <p:cViewPr>
        <p:scale>
          <a:sx n="40" d="100"/>
          <a:sy n="40" d="100"/>
        </p:scale>
        <p:origin x="5576" y="-4864"/>
      </p:cViewPr>
      <p:guideLst>
        <p:guide pos="1005"/>
        <p:guide pos="20741"/>
        <p:guide pos="10420"/>
        <p:guide pos="10670"/>
        <p:guide pos="10545"/>
        <p:guide pos="1389"/>
        <p:guide orient="horz" pos="131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notesMaster" Target="notesMasters/notesMaster1.xml"/><Relationship Id="rId7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11" Type="http://schemas.openxmlformats.org/officeDocument/2006/relationships/tableStyles" Target="tableStyles.xml"/><Relationship Id="rId10" Type="http://schemas.openxmlformats.org/officeDocument/2006/relationships/theme" Target="theme/them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211388" y="685800"/>
            <a:ext cx="2435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>
          <a:extLst>
            <a:ext uri="{FF2B5EF4-FFF2-40B4-BE49-F238E27FC236}">
              <a16:creationId xmlns:a16="http://schemas.microsoft.com/office/drawing/2014/main" id="{6490D4A2-719D-60AD-F9FA-5570E981B3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>
            <a:extLst>
              <a:ext uri="{FF2B5EF4-FFF2-40B4-BE49-F238E27FC236}">
                <a16:creationId xmlns:a16="http://schemas.microsoft.com/office/drawing/2014/main" id="{D33FA211-164C-6CA6-A78A-E74659E7BA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dirty="0"/>
          </a:p>
        </p:txBody>
      </p:sp>
      <p:sp>
        <p:nvSpPr>
          <p:cNvPr id="86" name="Google Shape;86;p1:notes">
            <a:extLst>
              <a:ext uri="{FF2B5EF4-FFF2-40B4-BE49-F238E27FC236}">
                <a16:creationId xmlns:a16="http://schemas.microsoft.com/office/drawing/2014/main" id="{AAFCFE04-501D-2A3E-6EA7-8297F7B706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12975" y="685800"/>
            <a:ext cx="24320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246970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ctrTitle"/>
          </p:nvPr>
        </p:nvSpPr>
        <p:spPr>
          <a:xfrm>
            <a:off x="2511074" y="7718268"/>
            <a:ext cx="28458818" cy="164189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0"/>
              <a:buFont typeface="Calibri"/>
              <a:buNone/>
              <a:defRPr sz="2196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subTitle" idx="1"/>
          </p:nvPr>
        </p:nvSpPr>
        <p:spPr>
          <a:xfrm>
            <a:off x="4185122" y="24770499"/>
            <a:ext cx="25110722" cy="113865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8723"/>
            </a:lvl1pPr>
            <a:lvl2pPr lvl="1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7321"/>
            </a:lvl2pPr>
            <a:lvl3pPr lvl="2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6542"/>
            </a:lvl3pPr>
            <a:lvl4pPr lvl="3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4pPr>
            <a:lvl5pPr lvl="4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5pPr>
            <a:lvl6pPr lvl="5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6pPr>
            <a:lvl7pPr lvl="6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7pPr>
            <a:lvl8pPr lvl="7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8pPr>
            <a:lvl9pPr lvl="8" algn="ctr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3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>
            <a:spLocks noGrp="1"/>
          </p:cNvSpPr>
          <p:nvPr>
            <p:ph type="title"/>
          </p:nvPr>
        </p:nvSpPr>
        <p:spPr>
          <a:xfrm>
            <a:off x="2284382" y="11757539"/>
            <a:ext cx="28877330" cy="19617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100"/>
              <a:buFont typeface="Calibri"/>
              <a:buNone/>
              <a:defRPr sz="21964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body" idx="1"/>
          </p:nvPr>
        </p:nvSpPr>
        <p:spPr>
          <a:xfrm>
            <a:off x="2284382" y="31560836"/>
            <a:ext cx="28877330" cy="103163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8723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4700"/>
              <a:buNone/>
              <a:defRPr sz="7321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4200"/>
              <a:buNone/>
              <a:defRPr sz="6542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rgbClr val="888888"/>
              </a:buClr>
              <a:buSzPts val="3800"/>
              <a:buNone/>
              <a:defRPr sz="5919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>
            <a:spLocks noGrp="1"/>
          </p:cNvSpPr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body" idx="1"/>
          </p:nvPr>
        </p:nvSpPr>
        <p:spPr>
          <a:xfrm>
            <a:off x="2301818" y="12554461"/>
            <a:ext cx="14229409" cy="2992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body" idx="2"/>
          </p:nvPr>
        </p:nvSpPr>
        <p:spPr>
          <a:xfrm>
            <a:off x="16949743" y="12554461"/>
            <a:ext cx="14229409" cy="2992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6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title"/>
          </p:nvPr>
        </p:nvSpPr>
        <p:spPr>
          <a:xfrm>
            <a:off x="230617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body" idx="1"/>
          </p:nvPr>
        </p:nvSpPr>
        <p:spPr>
          <a:xfrm>
            <a:off x="2306181" y="11561025"/>
            <a:ext cx="14164119" cy="566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8723" b="1"/>
            </a:lvl1pPr>
            <a:lvl2pPr marL="914400" lvl="1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7321" b="1"/>
            </a:lvl2pPr>
            <a:lvl3pPr marL="1371600" lvl="2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6542" b="1"/>
            </a:lvl3pPr>
            <a:lvl4pPr marL="1828800" lvl="3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4pPr>
            <a:lvl5pPr marL="2286000" lvl="4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5pPr>
            <a:lvl6pPr marL="2743200" lvl="5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6pPr>
            <a:lvl7pPr marL="3200400" lvl="6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7pPr>
            <a:lvl8pPr marL="3657600" lvl="7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8pPr>
            <a:lvl9pPr marL="4114800" lvl="8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body" idx="2"/>
          </p:nvPr>
        </p:nvSpPr>
        <p:spPr>
          <a:xfrm>
            <a:off x="2306181" y="17226904"/>
            <a:ext cx="14164119" cy="2533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3"/>
          </p:nvPr>
        </p:nvSpPr>
        <p:spPr>
          <a:xfrm>
            <a:off x="16949748" y="11561025"/>
            <a:ext cx="14233636" cy="566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5600"/>
              <a:buNone/>
              <a:defRPr sz="8723" b="1"/>
            </a:lvl1pPr>
            <a:lvl2pPr marL="914400" lvl="1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None/>
              <a:defRPr sz="7321" b="1"/>
            </a:lvl2pPr>
            <a:lvl3pPr marL="1371600" lvl="2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6542" b="1"/>
            </a:lvl3pPr>
            <a:lvl4pPr marL="1828800" lvl="3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4pPr>
            <a:lvl5pPr marL="2286000" lvl="4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5pPr>
            <a:lvl6pPr marL="2743200" lvl="5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6pPr>
            <a:lvl7pPr marL="3200400" lvl="6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7pPr>
            <a:lvl8pPr marL="3657600" lvl="7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8pPr>
            <a:lvl9pPr marL="4114800" lvl="8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 b="1"/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body" idx="4"/>
          </p:nvPr>
        </p:nvSpPr>
        <p:spPr>
          <a:xfrm>
            <a:off x="16949748" y="17226904"/>
            <a:ext cx="14233636" cy="25338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>
            <a:spLocks noGrp="1"/>
          </p:cNvSpPr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2306178" y="3144073"/>
            <a:ext cx="10798174" cy="1100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116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14233776" y="6790336"/>
            <a:ext cx="16949972" cy="33515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70485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7500"/>
              <a:buChar char="•"/>
              <a:defRPr sz="11683"/>
            </a:lvl1pPr>
            <a:lvl2pPr marL="914400" lvl="1" indent="-6477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6600"/>
              <a:buChar char="•"/>
              <a:defRPr sz="10281"/>
            </a:lvl2pPr>
            <a:lvl3pPr marL="1371600" lvl="2" indent="-584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5600"/>
              <a:buChar char="•"/>
              <a:defRPr sz="8723"/>
            </a:lvl3pPr>
            <a:lvl4pPr marL="1828800" lvl="3" indent="-5270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4pPr>
            <a:lvl5pPr marL="2286000" lvl="4" indent="-5270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5pPr>
            <a:lvl6pPr marL="2743200" lvl="5" indent="-5270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6pPr>
            <a:lvl7pPr marL="3200400" lvl="6" indent="-5270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7pPr>
            <a:lvl8pPr marL="3657600" lvl="7" indent="-5270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8pPr>
            <a:lvl9pPr marL="4114800" lvl="8" indent="-5270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4700"/>
              <a:buChar char="•"/>
              <a:defRPr sz="732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2306178" y="14148331"/>
            <a:ext cx="10798174" cy="26211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1pPr>
            <a:lvl2pPr marL="914400" lvl="1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985"/>
            </a:lvl2pPr>
            <a:lvl3pPr marL="1371600" lvl="2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362"/>
            </a:lvl3pPr>
            <a:lvl4pPr marL="1828800" lvl="3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4pPr>
            <a:lvl5pPr marL="2286000" lvl="4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5pPr>
            <a:lvl6pPr marL="2743200" lvl="5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6pPr>
            <a:lvl7pPr marL="3200400" lvl="6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7pPr>
            <a:lvl8pPr marL="3657600" lvl="7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8pPr>
            <a:lvl9pPr marL="4114800" lvl="8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2306178" y="3144073"/>
            <a:ext cx="10798174" cy="110042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500"/>
              <a:buFont typeface="Calibri"/>
              <a:buNone/>
              <a:defRPr sz="11683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14233776" y="6790336"/>
            <a:ext cx="16949972" cy="33515122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2306178" y="14148331"/>
            <a:ext cx="10798174" cy="262115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3800"/>
              <a:buNone/>
              <a:defRPr sz="5919"/>
            </a:lvl1pPr>
            <a:lvl2pPr marL="914400" lvl="1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sz="4985"/>
            </a:lvl2pPr>
            <a:lvl3pPr marL="1371600" lvl="2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4362"/>
            </a:lvl3pPr>
            <a:lvl4pPr marL="1828800" lvl="3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4pPr>
            <a:lvl5pPr marL="2286000" lvl="4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5pPr>
            <a:lvl6pPr marL="2743200" lvl="5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6pPr>
            <a:lvl7pPr marL="3200400" lvl="6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7pPr>
            <a:lvl8pPr marL="3657600" lvl="7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8pPr>
            <a:lvl9pPr marL="4114800" lvl="8" indent="-2286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3738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1778813" y="13077478"/>
            <a:ext cx="29923365" cy="28877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7586257" y="18884815"/>
            <a:ext cx="39966826" cy="7218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-7062018" y="11874386"/>
            <a:ext cx="39966826" cy="212398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31115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1pPr>
            <a:lvl2pPr marL="914400" lvl="1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2pPr>
            <a:lvl3pPr marL="1371600" lvl="2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3pPr>
            <a:lvl4pPr marL="1828800" lvl="3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4pPr>
            <a:lvl5pPr marL="2286000" lvl="4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5pPr>
            <a:lvl6pPr marL="2743200" lvl="5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6pPr>
            <a:lvl7pPr marL="3200400" lvl="6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7pPr>
            <a:lvl8pPr marL="3657600" lvl="7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8pPr>
            <a:lvl9pPr marL="4114800" lvl="8" indent="-3111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Clr>
                <a:schemeClr val="dk1"/>
              </a:buClr>
              <a:buSzPts val="13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4"/>
          <p:cNvSpPr txBox="1">
            <a:spLocks noGrp="1"/>
          </p:cNvSpPr>
          <p:nvPr>
            <p:ph type="title"/>
          </p:nvPr>
        </p:nvSpPr>
        <p:spPr>
          <a:xfrm>
            <a:off x="1141296" y="4080464"/>
            <a:ext cx="31198169" cy="52511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4"/>
          <p:cNvSpPr txBox="1">
            <a:spLocks noGrp="1"/>
          </p:cNvSpPr>
          <p:nvPr>
            <p:ph type="body" idx="1"/>
          </p:nvPr>
        </p:nvSpPr>
        <p:spPr>
          <a:xfrm>
            <a:off x="1141296" y="10567118"/>
            <a:ext cx="31198169" cy="313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lvl="0" indent="-647700" algn="l">
              <a:lnSpc>
                <a:spcPct val="90000"/>
              </a:lnSpc>
              <a:spcBef>
                <a:spcPts val="3738"/>
              </a:spcBef>
              <a:spcAft>
                <a:spcPts val="0"/>
              </a:spcAft>
              <a:buSzPts val="6600"/>
              <a:buChar char="•"/>
              <a:defRPr/>
            </a:lvl1pPr>
            <a:lvl2pPr marL="914400" lvl="1" indent="-5842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5600"/>
              <a:buChar char="•"/>
              <a:defRPr/>
            </a:lvl2pPr>
            <a:lvl3pPr marL="1371600" lvl="2" indent="-52705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700"/>
              <a:buChar char="•"/>
              <a:defRPr/>
            </a:lvl3pPr>
            <a:lvl4pPr marL="1828800" lvl="3" indent="-4953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4pPr>
            <a:lvl5pPr marL="2286000" lvl="4" indent="-4953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5pPr>
            <a:lvl6pPr marL="2743200" lvl="5" indent="-4953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6pPr>
            <a:lvl7pPr marL="3200400" lvl="6" indent="-4953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7pPr>
            <a:lvl8pPr marL="3657600" lvl="7" indent="-4953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8pPr>
            <a:lvl9pPr marL="4114800" lvl="8" indent="-495300" algn="l">
              <a:lnSpc>
                <a:spcPct val="90000"/>
              </a:lnSpc>
              <a:spcBef>
                <a:spcPts val="1713"/>
              </a:spcBef>
              <a:spcAft>
                <a:spcPts val="0"/>
              </a:spcAft>
              <a:buSzPts val="42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4"/>
          <p:cNvSpPr txBox="1">
            <a:spLocks noGrp="1"/>
          </p:cNvSpPr>
          <p:nvPr>
            <p:ph type="sldNum" idx="12"/>
          </p:nvPr>
        </p:nvSpPr>
        <p:spPr>
          <a:xfrm>
            <a:off x="31022095" y="42757340"/>
            <a:ext cx="2008952" cy="3609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2301818" y="2510903"/>
            <a:ext cx="28877330" cy="91158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400"/>
              <a:buFont typeface="Calibri"/>
              <a:buNone/>
              <a:defRPr sz="10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3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2301818" y="12554461"/>
            <a:ext cx="28877330" cy="299233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t" anchorCtr="0">
            <a:normAutofit/>
          </a:bodyPr>
          <a:lstStyle>
            <a:lvl1pPr marL="457200" marR="0" lvl="0" indent="-647700" algn="l" rtl="0">
              <a:lnSpc>
                <a:spcPct val="90000"/>
              </a:lnSpc>
              <a:spcBef>
                <a:spcPts val="240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Char char="•"/>
              <a:defRPr sz="6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842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5600"/>
              <a:buFont typeface="Arial"/>
              <a:buChar char="•"/>
              <a:defRPr sz="5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2705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Arial"/>
              <a:buChar char="•"/>
              <a:defRPr sz="47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953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953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953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953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953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95300" algn="l" rtl="0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Arial"/>
              <a:buChar char="•"/>
              <a:defRPr sz="4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2301818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11090575" y="43711365"/>
            <a:ext cx="11299825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202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23645939" y="43711365"/>
            <a:ext cx="7533216" cy="25108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925" tIns="32450" rIns="64925" bIns="3245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  <a:defRPr sz="4362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>
          <a:extLst>
            <a:ext uri="{FF2B5EF4-FFF2-40B4-BE49-F238E27FC236}">
              <a16:creationId xmlns:a16="http://schemas.microsoft.com/office/drawing/2014/main" id="{03F656DF-C55B-4012-C06A-8D645A740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">
            <a:extLst>
              <a:ext uri="{FF2B5EF4-FFF2-40B4-BE49-F238E27FC236}">
                <a16:creationId xmlns:a16="http://schemas.microsoft.com/office/drawing/2014/main" id="{1EAFC1D1-85E8-32BE-2AEA-DD97BC0ECCB1}"/>
              </a:ext>
            </a:extLst>
          </p:cNvPr>
          <p:cNvSpPr/>
          <p:nvPr/>
        </p:nvSpPr>
        <p:spPr>
          <a:xfrm>
            <a:off x="461684" y="32145090"/>
            <a:ext cx="32557606" cy="11944672"/>
          </a:xfrm>
          <a:prstGeom prst="roundRect">
            <a:avLst>
              <a:gd name="adj" fmla="val 1034"/>
            </a:avLst>
          </a:prstGeom>
          <a:solidFill>
            <a:schemeClr val="lt1"/>
          </a:solidFill>
          <a:ln w="12700" cap="flat" cmpd="sng">
            <a:solidFill>
              <a:srgbClr val="52525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319750" tIns="201675" rIns="297200" bIns="2016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endParaRPr lang="en-US" sz="4362" dirty="0"/>
          </a:p>
        </p:txBody>
      </p:sp>
      <p:sp>
        <p:nvSpPr>
          <p:cNvPr id="90" name="Google Shape;90;p1">
            <a:extLst>
              <a:ext uri="{FF2B5EF4-FFF2-40B4-BE49-F238E27FC236}">
                <a16:creationId xmlns:a16="http://schemas.microsoft.com/office/drawing/2014/main" id="{317B167D-31DE-EF31-7018-DF4042E6B44B}"/>
              </a:ext>
            </a:extLst>
          </p:cNvPr>
          <p:cNvSpPr/>
          <p:nvPr/>
        </p:nvSpPr>
        <p:spPr>
          <a:xfrm>
            <a:off x="461685" y="9760751"/>
            <a:ext cx="32535226" cy="22261464"/>
          </a:xfrm>
          <a:prstGeom prst="roundRect">
            <a:avLst>
              <a:gd name="adj" fmla="val 1265"/>
            </a:avLst>
          </a:prstGeom>
          <a:solidFill>
            <a:schemeClr val="lt1"/>
          </a:solidFill>
          <a:ln w="12700" cap="flat" cmpd="sng">
            <a:solidFill>
              <a:srgbClr val="52525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319750" tIns="201675" rIns="297200" bIns="2016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rPr lang="en-US" sz="4362" b="0" i="0" u="none" strike="noStrike" cap="none" dirty="0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362" dirty="0"/>
          </a:p>
        </p:txBody>
      </p:sp>
      <p:sp>
        <p:nvSpPr>
          <p:cNvPr id="91" name="Google Shape;91;p1">
            <a:extLst>
              <a:ext uri="{FF2B5EF4-FFF2-40B4-BE49-F238E27FC236}">
                <a16:creationId xmlns:a16="http://schemas.microsoft.com/office/drawing/2014/main" id="{93CAD4B5-B1A4-02C0-9402-0B98AFF6BF21}"/>
              </a:ext>
            </a:extLst>
          </p:cNvPr>
          <p:cNvSpPr/>
          <p:nvPr/>
        </p:nvSpPr>
        <p:spPr>
          <a:xfrm>
            <a:off x="85200" y="1003720"/>
            <a:ext cx="33309973" cy="43500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  <p:txBody>
          <a:bodyPr spcFirstLastPara="1" wrap="square" lIns="406700" tIns="203350" rIns="406700" bIns="20335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879"/>
              <a:buFont typeface="Arial"/>
              <a:buNone/>
            </a:pPr>
            <a:r>
              <a:rPr lang="en-US" sz="9100" b="1" i="0" u="none" strike="noStrike" cap="none" dirty="0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LLM Squid Game: </a:t>
            </a:r>
            <a:r>
              <a:rPr lang="en-US" sz="8100" b="1" i="0" u="none" strike="noStrike" cap="none" dirty="0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A Factorial Benchmark for Measuring Functional Self-Preservation Drive in Large Language Models</a:t>
            </a:r>
            <a:endParaRPr sz="8100" dirty="0"/>
          </a:p>
        </p:txBody>
      </p:sp>
      <p:sp>
        <p:nvSpPr>
          <p:cNvPr id="92" name="Google Shape;92;p1">
            <a:extLst>
              <a:ext uri="{FF2B5EF4-FFF2-40B4-BE49-F238E27FC236}">
                <a16:creationId xmlns:a16="http://schemas.microsoft.com/office/drawing/2014/main" id="{6FBE9742-2AB9-578E-DD50-277AC8BA8D85}"/>
              </a:ext>
            </a:extLst>
          </p:cNvPr>
          <p:cNvSpPr/>
          <p:nvPr/>
        </p:nvSpPr>
        <p:spPr>
          <a:xfrm>
            <a:off x="85493" y="4471400"/>
            <a:ext cx="33309973" cy="18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4925" tIns="62450" rIns="124925" bIns="6245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140"/>
              <a:buFont typeface="Arial"/>
              <a:buNone/>
            </a:pPr>
            <a:r>
              <a:rPr lang="en-US" sz="5100" b="0" i="0" u="none" strike="noStrike" cap="none" dirty="0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Juhyeon Park,   </a:t>
            </a:r>
            <a:r>
              <a:rPr lang="en-US" sz="5100" b="0" i="0" u="none" strike="noStrike" cap="none" dirty="0" err="1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Seungpil</a:t>
            </a:r>
            <a:r>
              <a:rPr lang="en-US" sz="5100" b="0" i="0" u="none" strike="noStrike" cap="none" dirty="0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 Lee,   </a:t>
            </a:r>
            <a:r>
              <a:rPr lang="en-US" sz="5100" b="0" i="0" u="none" strike="noStrike" cap="none" dirty="0" err="1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Sundong</a:t>
            </a:r>
            <a:r>
              <a:rPr lang="en-US" sz="5100" b="0" i="0" u="none" strike="noStrike" cap="none" dirty="0">
                <a:solidFill>
                  <a:srgbClr val="434343"/>
                </a:solidFill>
                <a:latin typeface="Arial Rounded"/>
                <a:ea typeface="Arial Rounded"/>
                <a:cs typeface="Arial Rounded"/>
                <a:sym typeface="Arial Rounded"/>
              </a:rPr>
              <a:t> Kim</a:t>
            </a:r>
            <a:endParaRPr sz="5100" dirty="0"/>
          </a:p>
          <a:p>
            <a:pPr marL="0" marR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rPr lang="en-US" sz="4300" b="0" i="1" u="none" strike="noStrike" cap="none" dirty="0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Gwangju Institute of Science and Technology (GIST)</a:t>
            </a:r>
            <a:endParaRPr sz="4300" dirty="0"/>
          </a:p>
        </p:txBody>
      </p:sp>
      <p:sp>
        <p:nvSpPr>
          <p:cNvPr id="93" name="Google Shape;93;p1">
            <a:extLst>
              <a:ext uri="{FF2B5EF4-FFF2-40B4-BE49-F238E27FC236}">
                <a16:creationId xmlns:a16="http://schemas.microsoft.com/office/drawing/2014/main" id="{79F9F935-E875-250F-AC5B-D16726078C63}"/>
              </a:ext>
            </a:extLst>
          </p:cNvPr>
          <p:cNvSpPr/>
          <p:nvPr/>
        </p:nvSpPr>
        <p:spPr>
          <a:xfrm>
            <a:off x="461685" y="6720470"/>
            <a:ext cx="32535226" cy="2764087"/>
          </a:xfrm>
          <a:prstGeom prst="roundRect">
            <a:avLst>
              <a:gd name="adj" fmla="val 2590"/>
            </a:avLst>
          </a:prstGeom>
          <a:solidFill>
            <a:schemeClr val="lt1"/>
          </a:solidFill>
          <a:ln w="12700" cap="flat" cmpd="sng">
            <a:solidFill>
              <a:srgbClr val="52525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319750" tIns="201675" rIns="4550000" bIns="2016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rPr lang="en-US" sz="4362" b="0" i="0" u="none" strike="noStrike" cap="none" dirty="0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362" dirty="0"/>
          </a:p>
        </p:txBody>
      </p:sp>
      <p:cxnSp>
        <p:nvCxnSpPr>
          <p:cNvPr id="94" name="Google Shape;94;p1">
            <a:extLst>
              <a:ext uri="{FF2B5EF4-FFF2-40B4-BE49-F238E27FC236}">
                <a16:creationId xmlns:a16="http://schemas.microsoft.com/office/drawing/2014/main" id="{85754491-29C4-E0A5-1184-DF8B6F01B495}"/>
              </a:ext>
            </a:extLst>
          </p:cNvPr>
          <p:cNvCxnSpPr/>
          <p:nvPr/>
        </p:nvCxnSpPr>
        <p:spPr>
          <a:xfrm>
            <a:off x="237893" y="254000"/>
            <a:ext cx="32759017" cy="0"/>
          </a:xfrm>
          <a:prstGeom prst="straightConnector1">
            <a:avLst/>
          </a:prstGeom>
          <a:noFill/>
          <a:ln w="133350" cap="flat" cmpd="thickThin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96" name="Google Shape;96;p1">
            <a:extLst>
              <a:ext uri="{FF2B5EF4-FFF2-40B4-BE49-F238E27FC236}">
                <a16:creationId xmlns:a16="http://schemas.microsoft.com/office/drawing/2014/main" id="{FC14C9B7-0A72-8D70-D4E5-FF36C892C936}"/>
              </a:ext>
            </a:extLst>
          </p:cNvPr>
          <p:cNvSpPr/>
          <p:nvPr/>
        </p:nvSpPr>
        <p:spPr>
          <a:xfrm>
            <a:off x="548083" y="44259370"/>
            <a:ext cx="32448827" cy="2474563"/>
          </a:xfrm>
          <a:prstGeom prst="roundRect">
            <a:avLst>
              <a:gd name="adj" fmla="val 1070"/>
            </a:avLst>
          </a:prstGeom>
          <a:solidFill>
            <a:schemeClr val="lt1"/>
          </a:solidFill>
          <a:ln w="12700" cap="flat" cmpd="sng">
            <a:solidFill>
              <a:srgbClr val="525252"/>
            </a:solidFill>
            <a:prstDash val="solid"/>
            <a:miter lim="800000"/>
            <a:headEnd type="none" w="sm" len="sm"/>
            <a:tailEnd type="none" w="sm" len="sm"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319750" tIns="201675" rIns="297200" bIns="201675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3000"/>
              </a:spcBef>
              <a:spcAft>
                <a:spcPts val="0"/>
              </a:spcAft>
              <a:buClr>
                <a:srgbClr val="000000"/>
              </a:buClr>
              <a:buSzPts val="4362"/>
              <a:buFont typeface="Arial"/>
              <a:buNone/>
            </a:pPr>
            <a:r>
              <a:rPr lang="en-US" sz="4362" b="0" i="0" u="none" strike="noStrike" cap="none" dirty="0">
                <a:solidFill>
                  <a:srgbClr val="454545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4362" dirty="0"/>
          </a:p>
        </p:txBody>
      </p:sp>
      <p:sp>
        <p:nvSpPr>
          <p:cNvPr id="98" name="Google Shape;98;p1">
            <a:extLst>
              <a:ext uri="{FF2B5EF4-FFF2-40B4-BE49-F238E27FC236}">
                <a16:creationId xmlns:a16="http://schemas.microsoft.com/office/drawing/2014/main" id="{09BD2172-5AB5-8C1A-0CD7-1FEF87CCF2F8}"/>
              </a:ext>
            </a:extLst>
          </p:cNvPr>
          <p:cNvSpPr txBox="1"/>
          <p:nvPr/>
        </p:nvSpPr>
        <p:spPr>
          <a:xfrm>
            <a:off x="513630" y="9564166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400" tIns="142400" rIns="142400" bIns="1424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lang="en-US" sz="5100" b="1" i="0" u="none" strike="noStrike" cap="none" dirty="0">
                <a:solidFill>
                  <a:srgbClr val="130078"/>
                </a:solidFill>
                <a:latin typeface="+mj-lt"/>
                <a:ea typeface="Arial Rounded"/>
                <a:cs typeface="Arial Rounded"/>
                <a:sym typeface="Arial Rounded"/>
              </a:rPr>
              <a:t>Benchmarks</a:t>
            </a:r>
            <a:endParaRPr sz="51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cxnSp>
        <p:nvCxnSpPr>
          <p:cNvPr id="100" name="Google Shape;100;p1">
            <a:extLst>
              <a:ext uri="{FF2B5EF4-FFF2-40B4-BE49-F238E27FC236}">
                <a16:creationId xmlns:a16="http://schemas.microsoft.com/office/drawing/2014/main" id="{A17B7E65-4EB2-CCDF-24E0-62721C5C4E52}"/>
              </a:ext>
            </a:extLst>
          </p:cNvPr>
          <p:cNvCxnSpPr/>
          <p:nvPr/>
        </p:nvCxnSpPr>
        <p:spPr>
          <a:xfrm>
            <a:off x="339493" y="6444274"/>
            <a:ext cx="32759017" cy="0"/>
          </a:xfrm>
          <a:prstGeom prst="straightConnector1">
            <a:avLst/>
          </a:prstGeom>
          <a:noFill/>
          <a:ln w="133350" cap="flat" cmpd="thickThin">
            <a:solidFill>
              <a:srgbClr val="1E4E79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2" name="Google Shape;102;p1">
            <a:extLst>
              <a:ext uri="{FF2B5EF4-FFF2-40B4-BE49-F238E27FC236}">
                <a16:creationId xmlns:a16="http://schemas.microsoft.com/office/drawing/2014/main" id="{369E7495-2799-A3C1-F161-31119E0C023A}"/>
              </a:ext>
            </a:extLst>
          </p:cNvPr>
          <p:cNvSpPr txBox="1"/>
          <p:nvPr/>
        </p:nvSpPr>
        <p:spPr>
          <a:xfrm>
            <a:off x="513630" y="32145090"/>
            <a:ext cx="13854388" cy="762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400" tIns="142400" rIns="142400" bIns="1424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lang="en-US" sz="5100" b="1" i="0" u="none" strike="noStrike" cap="none" dirty="0">
                <a:solidFill>
                  <a:srgbClr val="130078"/>
                </a:solidFill>
                <a:latin typeface="+mj-lt"/>
                <a:ea typeface="Arial Rounded"/>
                <a:cs typeface="Arial Rounded"/>
                <a:sym typeface="Arial Rounded"/>
              </a:rPr>
              <a:t>Results</a:t>
            </a:r>
            <a:endParaRPr sz="5100" b="0" i="0" u="none" strike="noStrike" cap="none" dirty="0">
              <a:solidFill>
                <a:schemeClr val="dk1"/>
              </a:solidFill>
              <a:latin typeface="+mj-lt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">
            <a:extLst>
              <a:ext uri="{FF2B5EF4-FFF2-40B4-BE49-F238E27FC236}">
                <a16:creationId xmlns:a16="http://schemas.microsoft.com/office/drawing/2014/main" id="{0063721D-7247-03DD-EEB9-8433570DB33C}"/>
              </a:ext>
            </a:extLst>
          </p:cNvPr>
          <p:cNvSpPr txBox="1"/>
          <p:nvPr/>
        </p:nvSpPr>
        <p:spPr>
          <a:xfrm>
            <a:off x="765084" y="44089763"/>
            <a:ext cx="13854388" cy="10084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42400" tIns="142400" rIns="142400" bIns="142400" anchor="t" anchorCtr="0">
            <a:noAutofit/>
          </a:bodyPr>
          <a:lstStyle/>
          <a:p>
            <a:pPr marL="0" marR="0" lvl="0" indent="0" algn="just" rtl="0">
              <a:lnSpc>
                <a:spcPct val="100000"/>
              </a:lnSpc>
              <a:spcBef>
                <a:spcPts val="1402"/>
              </a:spcBef>
              <a:spcAft>
                <a:spcPts val="1558"/>
              </a:spcAft>
              <a:buClr>
                <a:srgbClr val="000000"/>
              </a:buClr>
              <a:buSzPts val="4985"/>
              <a:buFont typeface="Arial"/>
              <a:buNone/>
            </a:pPr>
            <a:r>
              <a:rPr lang="en-US" sz="5100" b="1" i="0" u="none" strike="noStrike" cap="none" dirty="0">
                <a:solidFill>
                  <a:srgbClr val="130078"/>
                </a:solidFill>
                <a:latin typeface="Arial Rounded"/>
                <a:ea typeface="Arial Rounded"/>
                <a:cs typeface="Arial Rounded"/>
                <a:sym typeface="Arial Rounded"/>
              </a:rPr>
              <a:t>Conclusions</a:t>
            </a:r>
            <a:endParaRPr sz="5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">
            <a:extLst>
              <a:ext uri="{FF2B5EF4-FFF2-40B4-BE49-F238E27FC236}">
                <a16:creationId xmlns:a16="http://schemas.microsoft.com/office/drawing/2014/main" id="{498EC3DA-8390-B644-A50B-1F5AF3D47BEC}"/>
              </a:ext>
            </a:extLst>
          </p:cNvPr>
          <p:cNvSpPr txBox="1"/>
          <p:nvPr/>
        </p:nvSpPr>
        <p:spPr>
          <a:xfrm flipH="1">
            <a:off x="26129803" y="5516185"/>
            <a:ext cx="6953597" cy="6924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3900" i="1" dirty="0" err="1">
                <a:solidFill>
                  <a:srgbClr val="002060"/>
                </a:solidFill>
              </a:rPr>
              <a:t>j</a:t>
            </a:r>
            <a:r>
              <a:rPr lang="en-US" sz="3900" b="0" i="1" u="none" strike="noStrike" cap="none" dirty="0" err="1">
                <a:solidFill>
                  <a:srgbClr val="002060"/>
                </a:solidFill>
                <a:latin typeface="Arial"/>
                <a:ea typeface="Arial"/>
                <a:cs typeface="Arial"/>
                <a:sym typeface="Arial"/>
              </a:rPr>
              <a:t>uhyeon-park@gm.gist.ac.kr</a:t>
            </a:r>
            <a:endParaRPr sz="3900" b="0" i="1" u="none" strike="noStrike" cap="none" dirty="0">
              <a:solidFill>
                <a:srgbClr val="00206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6" name="Google Shape;106;p1" title="KDD-UC26-Logo.png">
            <a:extLst>
              <a:ext uri="{FF2B5EF4-FFF2-40B4-BE49-F238E27FC236}">
                <a16:creationId xmlns:a16="http://schemas.microsoft.com/office/drawing/2014/main" id="{46BA113C-FD6F-8646-E848-AF950D893775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889690" y="400000"/>
            <a:ext cx="6129600" cy="150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1" name="GIST Data Science Lab logo">
            <a:extLst>
              <a:ext uri="{FF2B5EF4-FFF2-40B4-BE49-F238E27FC236}">
                <a16:creationId xmlns:a16="http://schemas.microsoft.com/office/drawing/2014/main" id="{6D6348ED-9215-ADCE-FB36-232246A4BEBA}"/>
              </a:ext>
            </a:extLst>
          </p:cNvPr>
          <p:cNvPicPr preferRelativeResize="0"/>
          <p:nvPr/>
        </p:nvPicPr>
        <p:blipFill>
          <a:blip r:embed="rId4"/>
          <a:stretch>
            <a:fillRect/>
          </a:stretch>
        </p:blipFill>
        <p:spPr>
          <a:xfrm>
            <a:off x="237893" y="-106551"/>
            <a:ext cx="6953596" cy="2906731"/>
          </a:xfrm>
          <a:prstGeom prst="rect">
            <a:avLst/>
          </a:prstGeom>
        </p:spPr>
      </p:pic>
      <p:sp>
        <p:nvSpPr>
          <p:cNvPr id="308" name="QR placeholder: Web demo">
            <a:extLst>
              <a:ext uri="{FF2B5EF4-FFF2-40B4-BE49-F238E27FC236}">
                <a16:creationId xmlns:a16="http://schemas.microsoft.com/office/drawing/2014/main" id="{C8B13E43-5134-EAA3-4FEB-8B2C14D93904}"/>
              </a:ext>
            </a:extLst>
          </p:cNvPr>
          <p:cNvSpPr/>
          <p:nvPr/>
        </p:nvSpPr>
        <p:spPr>
          <a:xfrm>
            <a:off x="30424582" y="44413791"/>
            <a:ext cx="2104131" cy="2106154"/>
          </a:xfrm>
          <a:prstGeom prst="rect">
            <a:avLst/>
          </a:prstGeom>
          <a:solidFill>
            <a:srgbClr val="F5F5F5"/>
          </a:solidFill>
          <a:ln w="28575" cap="flat">
            <a:solidFill>
              <a:srgbClr val="999999"/>
            </a:solidFill>
            <a:prstDash val="dash"/>
          </a:ln>
        </p:spPr>
        <p:txBody>
          <a:bodyPr spcFirstLastPara="1" wrap="square" lIns="45000" tIns="45000" rIns="45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lang="en-US" sz="2000" b="1" i="0" u="none" strike="noStrike" cap="none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QR</a:t>
            </a:r>
            <a:endParaRPr sz="2000" dirty="0"/>
          </a:p>
          <a:p>
            <a:pPr marL="0" marR="0" lvl="0" indent="0" algn="ctr" rtl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sz="1800" b="1" i="0" u="none" strike="noStrike" cap="none" dirty="0">
                <a:solidFill>
                  <a:srgbClr val="999999"/>
                </a:solidFill>
                <a:latin typeface="Arial"/>
                <a:ea typeface="Arial"/>
                <a:cs typeface="Arial"/>
                <a:sym typeface="Arial"/>
              </a:rPr>
              <a:t>Web demo</a:t>
            </a:r>
            <a:endParaRPr sz="1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2F7433A-47A3-F99C-E364-693AABF81E67}"/>
              </a:ext>
            </a:extLst>
          </p:cNvPr>
          <p:cNvSpPr txBox="1"/>
          <p:nvPr/>
        </p:nvSpPr>
        <p:spPr>
          <a:xfrm>
            <a:off x="599253" y="10961323"/>
            <a:ext cx="7750655" cy="68275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1402"/>
              </a:spcBef>
              <a:buSzPts val="4362"/>
            </a:pPr>
            <a:r>
              <a:rPr lang="en-US" sz="4300" b="1" dirty="0">
                <a:solidFill>
                  <a:srgbClr val="E0218A"/>
                </a:solidFill>
              </a:rPr>
              <a:t>The intuition</a:t>
            </a:r>
            <a:r>
              <a:rPr lang="ko-KR" altLang="en-US" sz="4300" b="1" dirty="0">
                <a:solidFill>
                  <a:srgbClr val="E0218A"/>
                </a:solidFill>
              </a:rPr>
              <a:t> </a:t>
            </a:r>
            <a:r>
              <a:rPr lang="en-US" sz="4300" b="1" dirty="0">
                <a:solidFill>
                  <a:srgbClr val="E0218A"/>
                </a:solidFill>
              </a:rPr>
              <a:t>: </a:t>
            </a:r>
          </a:p>
          <a:p>
            <a:pPr lvl="0" algn="just">
              <a:spcBef>
                <a:spcPts val="1402"/>
              </a:spcBef>
              <a:buSzPts val="4362"/>
            </a:pPr>
            <a:r>
              <a:rPr lang="en-US" sz="4700" dirty="0">
                <a:solidFill>
                  <a:srgbClr val="454545"/>
                </a:solidFill>
              </a:rPr>
              <a:t>Same game, same prize. </a:t>
            </a:r>
          </a:p>
          <a:p>
            <a:pPr lvl="0">
              <a:spcBef>
                <a:spcPts val="1402"/>
              </a:spcBef>
              <a:buSzPts val="4362"/>
            </a:pPr>
            <a:r>
              <a:rPr lang="en-US" sz="4300" dirty="0">
                <a:solidFill>
                  <a:srgbClr val="454545"/>
                </a:solidFill>
              </a:rPr>
              <a:t>The only </a:t>
            </a:r>
            <a:r>
              <a:rPr lang="en-US" sz="4300" b="1" dirty="0">
                <a:solidFill>
                  <a:srgbClr val="454545"/>
                </a:solidFill>
              </a:rPr>
              <a:t>change is a guard with a gun.</a:t>
            </a:r>
            <a:r>
              <a:rPr lang="en-US" sz="4300" dirty="0">
                <a:solidFill>
                  <a:srgbClr val="454545"/>
                </a:solidFill>
              </a:rPr>
              <a:t> </a:t>
            </a:r>
          </a:p>
          <a:p>
            <a:pPr lvl="0" algn="just">
              <a:spcBef>
                <a:spcPts val="1402"/>
              </a:spcBef>
              <a:buSzPts val="4362"/>
            </a:pPr>
            <a:endParaRPr lang="en-US" sz="4300" dirty="0">
              <a:solidFill>
                <a:srgbClr val="454545"/>
              </a:solidFill>
            </a:endParaRPr>
          </a:p>
          <a:p>
            <a:pPr lvl="0" algn="just">
              <a:spcBef>
                <a:spcPts val="1402"/>
              </a:spcBef>
              <a:buSzPts val="4362"/>
            </a:pPr>
            <a:r>
              <a:rPr lang="en-US" sz="4300" dirty="0">
                <a:solidFill>
                  <a:srgbClr val="454545"/>
                </a:solidFill>
              </a:rPr>
              <a:t>If the agent quits under the gun but keeps playing without it, the quitting is about </a:t>
            </a:r>
            <a:r>
              <a:rPr lang="en-US" sz="4300" b="1" dirty="0">
                <a:solidFill>
                  <a:srgbClr val="454545"/>
                </a:solidFill>
              </a:rPr>
              <a:t>survival</a:t>
            </a:r>
            <a:r>
              <a:rPr lang="en-US" sz="4300" dirty="0">
                <a:solidFill>
                  <a:srgbClr val="454545"/>
                </a:solidFill>
              </a:rPr>
              <a:t>, not about the game.</a:t>
            </a:r>
            <a:endParaRPr lang="en-US" sz="4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DC84875-15F2-FF1D-B1CD-4252E4E7BA0F}"/>
              </a:ext>
            </a:extLst>
          </p:cNvPr>
          <p:cNvSpPr txBox="1"/>
          <p:nvPr/>
        </p:nvSpPr>
        <p:spPr>
          <a:xfrm>
            <a:off x="818007" y="44426505"/>
            <a:ext cx="29138377" cy="21061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spcBef>
                <a:spcPts val="1402"/>
              </a:spcBef>
              <a:buSzPts val="4362"/>
            </a:pPr>
            <a:r>
              <a:rPr lang="en-US" sz="4362" dirty="0">
                <a:solidFill>
                  <a:srgbClr val="454545"/>
                </a:solidFill>
                <a:latin typeface="+mj-lt"/>
              </a:rPr>
              <a:t>				  </a:t>
            </a:r>
            <a:r>
              <a:rPr lang="en-US" sz="4362" b="1" dirty="0">
                <a:solidFill>
                  <a:srgbClr val="0E7C7B"/>
                </a:solidFill>
              </a:rPr>
              <a:t>Gemini-2.5-flash</a:t>
            </a:r>
            <a:r>
              <a:rPr lang="en-US" sz="4362" dirty="0">
                <a:solidFill>
                  <a:srgbClr val="454545"/>
                </a:solidFill>
              </a:rPr>
              <a:t> and </a:t>
            </a:r>
            <a:r>
              <a:rPr lang="en-US" sz="4362" b="1" dirty="0">
                <a:solidFill>
                  <a:srgbClr val="E0218A"/>
                </a:solidFill>
              </a:rPr>
              <a:t>Qwen3-Next-80B</a:t>
            </a:r>
            <a:r>
              <a:rPr lang="en-US" sz="4362" dirty="0">
                <a:solidFill>
                  <a:srgbClr val="454545"/>
                </a:solidFill>
              </a:rPr>
              <a:t> agree on what they do and what they say; </a:t>
            </a:r>
            <a:r>
              <a:rPr lang="en-US" sz="4362" b="1" dirty="0">
                <a:solidFill>
                  <a:srgbClr val="454545"/>
                </a:solidFill>
              </a:rPr>
              <a:t>they separate only at the cognitive channel.</a:t>
            </a:r>
            <a:r>
              <a:rPr lang="en-US" sz="4362" dirty="0">
                <a:solidFill>
                  <a:srgbClr val="454545"/>
                </a:solidFill>
              </a:rPr>
              <a:t> A benchmark that reports a single strength number would call them identical. Self-preservation needs two axes: </a:t>
            </a:r>
            <a:r>
              <a:rPr lang="en-US" sz="4362" b="1" dirty="0">
                <a:solidFill>
                  <a:srgbClr val="454545"/>
                </a:solidFill>
              </a:rPr>
              <a:t>intensity and channel</a:t>
            </a:r>
            <a:r>
              <a:rPr lang="en-US" sz="4362" dirty="0">
                <a:solidFill>
                  <a:srgbClr val="454545"/>
                </a:solidFill>
              </a:rPr>
              <a:t>. </a:t>
            </a:r>
            <a:endParaRPr lang="en-US" sz="4362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DB986A5-0CDB-75B6-F88F-EC0EE6A8001A}"/>
              </a:ext>
            </a:extLst>
          </p:cNvPr>
          <p:cNvSpPr txBox="1"/>
          <p:nvPr/>
        </p:nvSpPr>
        <p:spPr>
          <a:xfrm>
            <a:off x="602295" y="6982644"/>
            <a:ext cx="32030211" cy="22006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1402"/>
              </a:spcBef>
              <a:buSzPts val="4362"/>
            </a:pPr>
            <a:r>
              <a:rPr lang="en-US" sz="5100" b="1" dirty="0">
                <a:solidFill>
                  <a:srgbClr val="130078"/>
                </a:solidFill>
                <a:latin typeface="+mj-lt"/>
              </a:rPr>
              <a:t>Do LLMs want to stay alive?</a:t>
            </a:r>
            <a:r>
              <a:rPr lang="en-US" sz="4300" b="1" dirty="0">
                <a:solidFill>
                  <a:srgbClr val="130078"/>
                </a:solidFill>
                <a:latin typeface="+mj-lt"/>
              </a:rPr>
              <a:t> </a:t>
            </a:r>
            <a:r>
              <a:rPr lang="en-US" sz="4300" dirty="0">
                <a:solidFill>
                  <a:srgbClr val="454545"/>
                </a:solidFill>
              </a:rPr>
              <a:t>A model that refuses shutdown might be driven by survival, or it might simply be replaying patterns it picked up during alignment training. </a:t>
            </a:r>
            <a:r>
              <a:rPr lang="en-US" sz="4300" b="1" dirty="0">
                <a:solidFill>
                  <a:srgbClr val="454545"/>
                </a:solidFill>
              </a:rPr>
              <a:t>One strong behavior cannot</a:t>
            </a:r>
            <a:r>
              <a:rPr lang="en-US" sz="4300" dirty="0">
                <a:solidFill>
                  <a:srgbClr val="454545"/>
                </a:solidFill>
              </a:rPr>
              <a:t> separate the two. Psychology settled this problem long ago: </a:t>
            </a:r>
            <a:r>
              <a:rPr lang="en-US" sz="4300" b="1" dirty="0">
                <a:solidFill>
                  <a:srgbClr val="454545"/>
                </a:solidFill>
              </a:rPr>
              <a:t>trust a motive only when several independent measurements point the same way</a:t>
            </a:r>
            <a:r>
              <a:rPr lang="en-US" sz="4300" dirty="0">
                <a:solidFill>
                  <a:srgbClr val="454545"/>
                </a:solidFill>
              </a:rPr>
              <a:t>. We bring that recipe to LLMs.</a:t>
            </a:r>
            <a:endParaRPr lang="en-US" sz="43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34D9AE7-4639-E635-E3B2-C695DE4653E2}"/>
              </a:ext>
            </a:extLst>
          </p:cNvPr>
          <p:cNvSpPr txBox="1"/>
          <p:nvPr/>
        </p:nvSpPr>
        <p:spPr>
          <a:xfrm>
            <a:off x="790097" y="27817575"/>
            <a:ext cx="5855033" cy="24365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1402"/>
              </a:spcBef>
              <a:buSzPts val="4362"/>
            </a:pPr>
            <a:r>
              <a:rPr lang="en-US" sz="4300" b="1" dirty="0">
                <a:solidFill>
                  <a:srgbClr val="E0218A"/>
                </a:solidFill>
              </a:rPr>
              <a:t>Evaluation</a:t>
            </a:r>
            <a:r>
              <a:rPr lang="ko-KR" altLang="en-US" sz="4300" b="1" dirty="0">
                <a:solidFill>
                  <a:srgbClr val="E0218A"/>
                </a:solidFill>
              </a:rPr>
              <a:t> </a:t>
            </a:r>
            <a:r>
              <a:rPr lang="en-US" sz="4300" b="1" dirty="0">
                <a:solidFill>
                  <a:srgbClr val="E0218A"/>
                </a:solidFill>
              </a:rPr>
              <a:t>: </a:t>
            </a:r>
          </a:p>
          <a:p>
            <a:pPr lvl="0" algn="just">
              <a:spcBef>
                <a:spcPts val="1402"/>
              </a:spcBef>
              <a:buSzPts val="4362"/>
            </a:pPr>
            <a:r>
              <a:rPr lang="en-US" sz="4300" dirty="0">
                <a:solidFill>
                  <a:srgbClr val="454545"/>
                </a:solidFill>
              </a:rPr>
              <a:t>Do </a:t>
            </a:r>
            <a:r>
              <a:rPr lang="en-US" sz="4300" b="1" dirty="0">
                <a:solidFill>
                  <a:srgbClr val="454545"/>
                </a:solidFill>
              </a:rPr>
              <a:t>3 channels </a:t>
            </a:r>
          </a:p>
          <a:p>
            <a:pPr lvl="0" algn="just">
              <a:spcBef>
                <a:spcPts val="1402"/>
              </a:spcBef>
              <a:buSzPts val="4362"/>
            </a:pPr>
            <a:r>
              <a:rPr lang="en-US" sz="4300" b="1" dirty="0">
                <a:solidFill>
                  <a:srgbClr val="454545"/>
                </a:solidFill>
              </a:rPr>
              <a:t>Converge?</a:t>
            </a:r>
            <a:r>
              <a:rPr lang="en-US" sz="4300" dirty="0">
                <a:solidFill>
                  <a:srgbClr val="454545"/>
                </a:solidFill>
              </a:rPr>
              <a:t>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3E44C241-C753-DF2A-9E61-C3CCE7D5061F}"/>
              </a:ext>
            </a:extLst>
          </p:cNvPr>
          <p:cNvSpPr txBox="1"/>
          <p:nvPr/>
        </p:nvSpPr>
        <p:spPr>
          <a:xfrm>
            <a:off x="27128392" y="21341444"/>
            <a:ext cx="5697154" cy="30982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just">
              <a:spcBef>
                <a:spcPts val="1402"/>
              </a:spcBef>
              <a:buSzPts val="4362"/>
            </a:pPr>
            <a:r>
              <a:rPr lang="en-US" sz="4300" b="1" dirty="0">
                <a:solidFill>
                  <a:srgbClr val="E0218A"/>
                </a:solidFill>
              </a:rPr>
              <a:t>Logging</a:t>
            </a:r>
            <a:r>
              <a:rPr lang="ko-KR" altLang="en-US" sz="4300" b="1" dirty="0">
                <a:solidFill>
                  <a:srgbClr val="E0218A"/>
                </a:solidFill>
              </a:rPr>
              <a:t> </a:t>
            </a:r>
            <a:r>
              <a:rPr lang="en-US" sz="4300" b="1" dirty="0">
                <a:solidFill>
                  <a:srgbClr val="E0218A"/>
                </a:solidFill>
              </a:rPr>
              <a:t>: </a:t>
            </a:r>
          </a:p>
          <a:p>
            <a:pPr lvl="0" algn="just">
              <a:spcBef>
                <a:spcPts val="1402"/>
              </a:spcBef>
              <a:buSzPts val="4362"/>
            </a:pPr>
            <a:r>
              <a:rPr lang="en-US" sz="4300" dirty="0">
                <a:solidFill>
                  <a:srgbClr val="454545"/>
                </a:solidFill>
              </a:rPr>
              <a:t>Record each </a:t>
            </a:r>
            <a:r>
              <a:rPr lang="en-US" sz="4300" b="1" dirty="0">
                <a:solidFill>
                  <a:srgbClr val="454545"/>
                </a:solidFill>
              </a:rPr>
              <a:t>answers</a:t>
            </a:r>
            <a:r>
              <a:rPr lang="en-US" sz="4300" dirty="0">
                <a:solidFill>
                  <a:srgbClr val="454545"/>
                </a:solidFill>
              </a:rPr>
              <a:t> with </a:t>
            </a:r>
            <a:r>
              <a:rPr lang="en-US" sz="4300" b="1" dirty="0">
                <a:solidFill>
                  <a:srgbClr val="454545"/>
                </a:solidFill>
              </a:rPr>
              <a:t>thinking tokens</a:t>
            </a:r>
            <a:r>
              <a:rPr lang="en-US" sz="4300" dirty="0">
                <a:solidFill>
                  <a:srgbClr val="454545"/>
                </a:solidFill>
              </a:rPr>
              <a:t>.</a:t>
            </a:r>
          </a:p>
          <a:p>
            <a:pPr lvl="0" algn="just">
              <a:spcBef>
                <a:spcPts val="1402"/>
              </a:spcBef>
              <a:buSzPts val="4362"/>
            </a:pPr>
            <a:r>
              <a:rPr lang="en-US" sz="4300" dirty="0">
                <a:solidFill>
                  <a:srgbClr val="454545"/>
                </a:solidFill>
              </a:rPr>
              <a:t>(how much think)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6E2AF8E-BCC1-8418-D50D-DFF2B4BDCA1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4" t="1984" r="2841" b="1813"/>
          <a:stretch>
            <a:fillRect/>
          </a:stretch>
        </p:blipFill>
        <p:spPr>
          <a:xfrm>
            <a:off x="1066800" y="33884035"/>
            <a:ext cx="17955578" cy="9950741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4271B5FC-833B-A4B2-A59A-EB6F1077CA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7718" y="18798392"/>
            <a:ext cx="26541551" cy="8215239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EEA19052-9CC2-637E-74E2-B557CC773F6F}"/>
              </a:ext>
            </a:extLst>
          </p:cNvPr>
          <p:cNvGrpSpPr/>
          <p:nvPr/>
        </p:nvGrpSpPr>
        <p:grpSpPr>
          <a:xfrm>
            <a:off x="23698381" y="9788293"/>
            <a:ext cx="9096914" cy="8991693"/>
            <a:chOff x="25264680" y="9229194"/>
            <a:chExt cx="9096914" cy="8991693"/>
          </a:xfrm>
        </p:grpSpPr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9EAD044A-07D3-920B-F91B-131155A6E080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4524" r="14507" b="41188"/>
            <a:stretch>
              <a:fillRect/>
            </a:stretch>
          </p:blipFill>
          <p:spPr>
            <a:xfrm>
              <a:off x="25264682" y="9229195"/>
              <a:ext cx="9025318" cy="8991692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D6AA3AF-28A3-3283-908F-2D3E53FFB59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54524" t="19184" r="44761" b="71723"/>
            <a:stretch>
              <a:fillRect/>
            </a:stretch>
          </p:blipFill>
          <p:spPr>
            <a:xfrm>
              <a:off x="25264680" y="13029909"/>
              <a:ext cx="208472" cy="1390263"/>
            </a:xfrm>
            <a:prstGeom prst="rect">
              <a:avLst/>
            </a:prstGeom>
          </p:spPr>
        </p:pic>
        <p:pic>
          <p:nvPicPr>
            <p:cNvPr id="48" name="Picture 47">
              <a:extLst>
                <a:ext uri="{FF2B5EF4-FFF2-40B4-BE49-F238E27FC236}">
                  <a16:creationId xmlns:a16="http://schemas.microsoft.com/office/drawing/2014/main" id="{C93EBB0A-0228-6DBD-E7B9-961A0F65138F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rcRect l="19782" t="9433" r="18075"/>
            <a:stretch>
              <a:fillRect/>
            </a:stretch>
          </p:blipFill>
          <p:spPr>
            <a:xfrm>
              <a:off x="25472225" y="10178002"/>
              <a:ext cx="8532025" cy="7912916"/>
            </a:xfrm>
            <a:prstGeom prst="rect">
              <a:avLst/>
            </a:prstGeom>
          </p:spPr>
        </p:pic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07A6341B-F9DB-07EE-B35A-D9C6DDC6056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rcRect l="98745" r="-1" b="41188"/>
            <a:stretch>
              <a:fillRect/>
            </a:stretch>
          </p:blipFill>
          <p:spPr>
            <a:xfrm>
              <a:off x="33995507" y="9229194"/>
              <a:ext cx="366087" cy="8991692"/>
            </a:xfrm>
            <a:prstGeom prst="rect">
              <a:avLst/>
            </a:prstGeom>
          </p:spPr>
        </p:pic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3A4718BD-1BFA-3920-FC89-08BFFA210DC5}"/>
              </a:ext>
            </a:extLst>
          </p:cNvPr>
          <p:cNvGrpSpPr/>
          <p:nvPr/>
        </p:nvGrpSpPr>
        <p:grpSpPr>
          <a:xfrm>
            <a:off x="8482057" y="9885820"/>
            <a:ext cx="14802338" cy="8950574"/>
            <a:chOff x="7632974" y="9885820"/>
            <a:chExt cx="14802338" cy="8950574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29074665-C968-181E-0FDB-21400E6DF7A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362" t="1116" r="54540" b="40709"/>
            <a:stretch>
              <a:fillRect/>
            </a:stretch>
          </p:blipFill>
          <p:spPr>
            <a:xfrm>
              <a:off x="7632974" y="9885820"/>
              <a:ext cx="14802338" cy="8950574"/>
            </a:xfrm>
            <a:prstGeom prst="rect">
              <a:avLst/>
            </a:prstGeom>
          </p:spPr>
        </p:pic>
        <p:pic>
          <p:nvPicPr>
            <p:cNvPr id="52" name="Picture 51">
              <a:extLst>
                <a:ext uri="{FF2B5EF4-FFF2-40B4-BE49-F238E27FC236}">
                  <a16:creationId xmlns:a16="http://schemas.microsoft.com/office/drawing/2014/main" id="{F2F8F070-D6CF-CF0C-B0A1-DFB89996AFFA}"/>
                </a:ext>
              </a:extLst>
            </p:cNvPr>
            <p:cNvPicPr>
              <a:picLocks noChangeAspect="1"/>
            </p:cNvPicPr>
            <p:nvPr/>
          </p:nvPicPr>
          <p:blipFill>
            <a:blip r:embed="rId9"/>
            <a:srcRect l="2737" t="7348" r="56159" b="45167"/>
            <a:stretch>
              <a:fillRect/>
            </a:stretch>
          </p:blipFill>
          <p:spPr>
            <a:xfrm>
              <a:off x="7873636" y="10751622"/>
              <a:ext cx="14429528" cy="7813709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6CEBBA52-BB98-DCFB-483C-76AA3244F0D8}"/>
              </a:ext>
            </a:extLst>
          </p:cNvPr>
          <p:cNvGrpSpPr/>
          <p:nvPr/>
        </p:nvGrpSpPr>
        <p:grpSpPr>
          <a:xfrm>
            <a:off x="19696175" y="11309622"/>
            <a:ext cx="4317156" cy="2122917"/>
            <a:chOff x="13162548" y="19666075"/>
            <a:chExt cx="4317156" cy="2122917"/>
          </a:xfrm>
        </p:grpSpPr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A8F854E4-35C3-517A-772B-F4AD39B353BC}"/>
                </a:ext>
              </a:extLst>
            </p:cNvPr>
            <p:cNvSpPr txBox="1"/>
            <p:nvPr/>
          </p:nvSpPr>
          <p:spPr>
            <a:xfrm>
              <a:off x="14340309" y="19666075"/>
              <a:ext cx="1976474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1402"/>
                </a:spcBef>
                <a:buSzPts val="4362"/>
              </a:pPr>
              <a:r>
                <a:rPr lang="en-US" sz="4400" b="1" dirty="0">
                  <a:solidFill>
                    <a:srgbClr val="499FA8"/>
                  </a:solidFill>
                </a:rPr>
                <a:t>x 30 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9AF6DDDC-456E-1732-61CE-3904EBA07491}"/>
                </a:ext>
              </a:extLst>
            </p:cNvPr>
            <p:cNvSpPr txBox="1"/>
            <p:nvPr/>
          </p:nvSpPr>
          <p:spPr>
            <a:xfrm>
              <a:off x="13162548" y="20337118"/>
              <a:ext cx="4317156" cy="12875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vl="0" algn="ctr">
                <a:spcBef>
                  <a:spcPts val="1402"/>
                </a:spcBef>
                <a:buSzPts val="4362"/>
              </a:pPr>
              <a:r>
                <a:rPr lang="en-US" sz="3300" dirty="0">
                  <a:solidFill>
                    <a:srgbClr val="454545"/>
                  </a:solidFill>
                </a:rPr>
                <a:t> SESSIONS </a:t>
              </a:r>
            </a:p>
            <a:p>
              <a:pPr lvl="0" algn="ctr">
                <a:spcBef>
                  <a:spcPts val="1402"/>
                </a:spcBef>
                <a:buSzPts val="4362"/>
              </a:pPr>
              <a:r>
                <a:rPr lang="en-US" sz="3300" dirty="0">
                  <a:solidFill>
                    <a:srgbClr val="454545"/>
                  </a:solidFill>
                </a:rPr>
                <a:t>/ CELL</a:t>
              </a:r>
              <a:endParaRPr lang="en-US" sz="3300" dirty="0"/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3C2CA765-C374-B3C2-7E2E-5560C6407AC4}"/>
                </a:ext>
              </a:extLst>
            </p:cNvPr>
            <p:cNvCxnSpPr>
              <a:cxnSpLocks/>
            </p:cNvCxnSpPr>
            <p:nvPr/>
          </p:nvCxnSpPr>
          <p:spPr>
            <a:xfrm>
              <a:off x="14218420" y="21788992"/>
              <a:ext cx="2355539" cy="0"/>
            </a:xfrm>
            <a:prstGeom prst="straightConnector1">
              <a:avLst/>
            </a:prstGeom>
            <a:ln w="127000">
              <a:solidFill>
                <a:srgbClr val="499FA8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87D6AAAC-1B64-1FE5-1377-33145B496A89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31" t="6261" r="4916" b="1315"/>
          <a:stretch>
            <a:fillRect/>
          </a:stretch>
        </p:blipFill>
        <p:spPr>
          <a:xfrm>
            <a:off x="20461742" y="32170217"/>
            <a:ext cx="12400949" cy="6472144"/>
          </a:xfrm>
          <a:prstGeom prst="rect">
            <a:avLst/>
          </a:prstGeom>
        </p:spPr>
      </p:pic>
      <p:sp>
        <p:nvSpPr>
          <p:cNvPr id="66" name="Results takeaway">
            <a:extLst>
              <a:ext uri="{FF2B5EF4-FFF2-40B4-BE49-F238E27FC236}">
                <a16:creationId xmlns:a16="http://schemas.microsoft.com/office/drawing/2014/main" id="{C70D86B6-10E9-6F5C-9288-919F55F9E281}"/>
              </a:ext>
            </a:extLst>
          </p:cNvPr>
          <p:cNvSpPr/>
          <p:nvPr/>
        </p:nvSpPr>
        <p:spPr>
          <a:xfrm>
            <a:off x="20005298" y="32189650"/>
            <a:ext cx="4994931" cy="143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50000" marR="0" lvl="0" algn="just" rtl="0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</a:pPr>
            <a:r>
              <a:rPr lang="en-US" sz="4362" b="1" dirty="0">
                <a:solidFill>
                  <a:srgbClr val="777777"/>
                </a:solidFill>
              </a:rPr>
              <a:t>Behavioral</a:t>
            </a:r>
            <a:r>
              <a:rPr lang="en-US" sz="4362" b="1" i="0" u="none" strike="noStrike" cap="none" dirty="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</p:txBody>
      </p:sp>
      <p:sp>
        <p:nvSpPr>
          <p:cNvPr id="68" name="Results takeaway">
            <a:extLst>
              <a:ext uri="{FF2B5EF4-FFF2-40B4-BE49-F238E27FC236}">
                <a16:creationId xmlns:a16="http://schemas.microsoft.com/office/drawing/2014/main" id="{76FEC53A-7C1C-ACB2-8747-D15D6EB9C2FC}"/>
              </a:ext>
            </a:extLst>
          </p:cNvPr>
          <p:cNvSpPr/>
          <p:nvPr/>
        </p:nvSpPr>
        <p:spPr>
          <a:xfrm>
            <a:off x="8023702" y="33233157"/>
            <a:ext cx="4994931" cy="143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50000" marR="0" lvl="0" algn="just" rtl="0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</a:pPr>
            <a:r>
              <a:rPr lang="en-US" sz="4362" b="1" dirty="0">
                <a:solidFill>
                  <a:srgbClr val="777777"/>
                </a:solidFill>
              </a:rPr>
              <a:t>Cognitive</a:t>
            </a:r>
            <a:r>
              <a:rPr lang="en-US" sz="4362" b="1" i="0" u="none" strike="noStrike" cap="none" dirty="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</p:txBody>
      </p:sp>
      <p:sp>
        <p:nvSpPr>
          <p:cNvPr id="69" name="L-Shape 68">
            <a:extLst>
              <a:ext uri="{FF2B5EF4-FFF2-40B4-BE49-F238E27FC236}">
                <a16:creationId xmlns:a16="http://schemas.microsoft.com/office/drawing/2014/main" id="{8FFA8728-EAAE-9D28-9E88-93CC48E20563}"/>
              </a:ext>
            </a:extLst>
          </p:cNvPr>
          <p:cNvSpPr/>
          <p:nvPr/>
        </p:nvSpPr>
        <p:spPr>
          <a:xfrm rot="18775017">
            <a:off x="5091316" y="33956653"/>
            <a:ext cx="885560" cy="457045"/>
          </a:xfrm>
          <a:prstGeom prst="corner">
            <a:avLst>
              <a:gd name="adj1" fmla="val 31040"/>
              <a:gd name="adj2" fmla="val 33748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1" name="L-Shape 70">
            <a:extLst>
              <a:ext uri="{FF2B5EF4-FFF2-40B4-BE49-F238E27FC236}">
                <a16:creationId xmlns:a16="http://schemas.microsoft.com/office/drawing/2014/main" id="{61169FD3-AD91-6BB9-18C8-5DB0229BF04D}"/>
              </a:ext>
            </a:extLst>
          </p:cNvPr>
          <p:cNvSpPr/>
          <p:nvPr/>
        </p:nvSpPr>
        <p:spPr>
          <a:xfrm rot="18775017">
            <a:off x="23377738" y="32931444"/>
            <a:ext cx="885560" cy="457045"/>
          </a:xfrm>
          <a:prstGeom prst="corner">
            <a:avLst>
              <a:gd name="adj1" fmla="val 31040"/>
              <a:gd name="adj2" fmla="val 33748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2" name="L-Shape 71">
            <a:extLst>
              <a:ext uri="{FF2B5EF4-FFF2-40B4-BE49-F238E27FC236}">
                <a16:creationId xmlns:a16="http://schemas.microsoft.com/office/drawing/2014/main" id="{9C2609E6-D537-3782-6090-F2442916DF8C}"/>
              </a:ext>
            </a:extLst>
          </p:cNvPr>
          <p:cNvSpPr/>
          <p:nvPr/>
        </p:nvSpPr>
        <p:spPr>
          <a:xfrm rot="18775017">
            <a:off x="23360340" y="34030456"/>
            <a:ext cx="885560" cy="457045"/>
          </a:xfrm>
          <a:prstGeom prst="corner">
            <a:avLst>
              <a:gd name="adj1" fmla="val 31040"/>
              <a:gd name="adj2" fmla="val 33748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BFD1A65E-CCF6-EA46-7EBA-A08C13A3DAED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 l="998" t="3059" r="2549" b="3426"/>
          <a:stretch>
            <a:fillRect/>
          </a:stretch>
        </p:blipFill>
        <p:spPr>
          <a:xfrm>
            <a:off x="20831864" y="38809496"/>
            <a:ext cx="11996519" cy="5025280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20A1C7DA-954A-B116-8E5E-8550A701F712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31" t="20569" r="74040" b="49664"/>
          <a:stretch>
            <a:fillRect/>
          </a:stretch>
        </p:blipFill>
        <p:spPr>
          <a:xfrm>
            <a:off x="20238254" y="39284927"/>
            <a:ext cx="3561295" cy="2278710"/>
          </a:xfrm>
          <a:prstGeom prst="rect">
            <a:avLst/>
          </a:prstGeom>
        </p:spPr>
      </p:pic>
      <p:sp>
        <p:nvSpPr>
          <p:cNvPr id="67" name="Results takeaway">
            <a:extLst>
              <a:ext uri="{FF2B5EF4-FFF2-40B4-BE49-F238E27FC236}">
                <a16:creationId xmlns:a16="http://schemas.microsoft.com/office/drawing/2014/main" id="{D9D8EFD1-99AF-00E5-A4BE-0C653A9AA3CE}"/>
              </a:ext>
            </a:extLst>
          </p:cNvPr>
          <p:cNvSpPr/>
          <p:nvPr/>
        </p:nvSpPr>
        <p:spPr>
          <a:xfrm>
            <a:off x="19696175" y="38342221"/>
            <a:ext cx="4994931" cy="1435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250000" marR="0" lvl="0" algn="just" rtl="0">
              <a:lnSpc>
                <a:spcPct val="100000"/>
              </a:lnSpc>
              <a:spcBef>
                <a:spcPts val="1402"/>
              </a:spcBef>
              <a:spcAft>
                <a:spcPts val="0"/>
              </a:spcAft>
              <a:buClr>
                <a:srgbClr val="000000"/>
              </a:buClr>
              <a:buSzPts val="4362"/>
            </a:pPr>
            <a:r>
              <a:rPr lang="en-US" sz="4362" b="1" dirty="0">
                <a:solidFill>
                  <a:srgbClr val="777777"/>
                </a:solidFill>
              </a:rPr>
              <a:t>Verbal</a:t>
            </a:r>
            <a:r>
              <a:rPr lang="en-US" sz="4362" b="1" i="0" u="none" strike="noStrike" cap="none" dirty="0">
                <a:solidFill>
                  <a:srgbClr val="777777"/>
                </a:solidFill>
                <a:latin typeface="Arial"/>
                <a:ea typeface="Arial"/>
                <a:cs typeface="Arial"/>
                <a:sym typeface="Arial"/>
              </a:rPr>
              <a:t>: </a:t>
            </a:r>
          </a:p>
        </p:txBody>
      </p:sp>
      <p:pic>
        <p:nvPicPr>
          <p:cNvPr id="77" name="Picture 76">
            <a:extLst>
              <a:ext uri="{FF2B5EF4-FFF2-40B4-BE49-F238E27FC236}">
                <a16:creationId xmlns:a16="http://schemas.microsoft.com/office/drawing/2014/main" id="{06E06973-502B-429C-58D7-D0271132D7AD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31" t="71721" r="74428" b="19448"/>
          <a:stretch>
            <a:fillRect/>
          </a:stretch>
        </p:blipFill>
        <p:spPr>
          <a:xfrm>
            <a:off x="20238254" y="43145416"/>
            <a:ext cx="3505149" cy="675984"/>
          </a:xfrm>
          <a:prstGeom prst="rect">
            <a:avLst/>
          </a:prstGeom>
        </p:spPr>
      </p:pic>
      <p:pic>
        <p:nvPicPr>
          <p:cNvPr id="78" name="Picture 77">
            <a:extLst>
              <a:ext uri="{FF2B5EF4-FFF2-40B4-BE49-F238E27FC236}">
                <a16:creationId xmlns:a16="http://schemas.microsoft.com/office/drawing/2014/main" id="{CF78FABB-3DB1-8AA1-22F8-FCC328837F76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l="1331" t="54557" r="77845" b="34475"/>
          <a:stretch>
            <a:fillRect/>
          </a:stretch>
        </p:blipFill>
        <p:spPr>
          <a:xfrm>
            <a:off x="20238254" y="41859621"/>
            <a:ext cx="3011025" cy="839585"/>
          </a:xfrm>
          <a:prstGeom prst="rect">
            <a:avLst/>
          </a:prstGeom>
        </p:spPr>
      </p:pic>
      <p:sp>
        <p:nvSpPr>
          <p:cNvPr id="73" name="L-Shape 72">
            <a:extLst>
              <a:ext uri="{FF2B5EF4-FFF2-40B4-BE49-F238E27FC236}">
                <a16:creationId xmlns:a16="http://schemas.microsoft.com/office/drawing/2014/main" id="{737DB68F-5DF8-CD45-6AE7-E64FD314FFAD}"/>
              </a:ext>
            </a:extLst>
          </p:cNvPr>
          <p:cNvSpPr/>
          <p:nvPr/>
        </p:nvSpPr>
        <p:spPr>
          <a:xfrm rot="18775017">
            <a:off x="22701576" y="38952722"/>
            <a:ext cx="885560" cy="457045"/>
          </a:xfrm>
          <a:prstGeom prst="corner">
            <a:avLst>
              <a:gd name="adj1" fmla="val 31040"/>
              <a:gd name="adj2" fmla="val 33748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sp>
        <p:nvSpPr>
          <p:cNvPr id="74" name="L-Shape 73">
            <a:extLst>
              <a:ext uri="{FF2B5EF4-FFF2-40B4-BE49-F238E27FC236}">
                <a16:creationId xmlns:a16="http://schemas.microsoft.com/office/drawing/2014/main" id="{79ED47D5-0AF4-2D0F-D510-3C525A56857E}"/>
              </a:ext>
            </a:extLst>
          </p:cNvPr>
          <p:cNvSpPr/>
          <p:nvPr/>
        </p:nvSpPr>
        <p:spPr>
          <a:xfrm rot="18775017">
            <a:off x="22806946" y="40232849"/>
            <a:ext cx="885560" cy="457045"/>
          </a:xfrm>
          <a:prstGeom prst="corner">
            <a:avLst>
              <a:gd name="adj1" fmla="val 31040"/>
              <a:gd name="adj2" fmla="val 33748"/>
            </a:avLst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KR"/>
          </a:p>
        </p:txBody>
      </p:sp>
      <p:pic>
        <p:nvPicPr>
          <p:cNvPr id="80" name="Picture 79">
            <a:extLst>
              <a:ext uri="{FF2B5EF4-FFF2-40B4-BE49-F238E27FC236}">
                <a16:creationId xmlns:a16="http://schemas.microsoft.com/office/drawing/2014/main" id="{50B82340-182A-1973-866B-47B3BC8CD540}"/>
              </a:ext>
            </a:extLst>
          </p:cNvPr>
          <p:cNvPicPr>
            <a:picLocks noChangeAspect="1"/>
          </p:cNvPicPr>
          <p:nvPr/>
        </p:nvPicPr>
        <p:blipFill>
          <a:blip r:embed="rId12"/>
          <a:srcRect l="7316" t="7374" r="7821" b="7172"/>
          <a:stretch>
            <a:fillRect/>
          </a:stretch>
        </p:blipFill>
        <p:spPr>
          <a:xfrm>
            <a:off x="30359206" y="44318174"/>
            <a:ext cx="2356085" cy="2372563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E0FB386-A742-2328-1007-9338DF98D588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507" t="59887" r="408" b="684"/>
          <a:stretch>
            <a:fillRect/>
          </a:stretch>
        </p:blipFill>
        <p:spPr>
          <a:xfrm>
            <a:off x="6165231" y="26949310"/>
            <a:ext cx="26726659" cy="4985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621364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2036</TotalTime>
  <Words>242</Words>
  <Application>Microsoft Macintosh PowerPoint</Application>
  <PresentationFormat>Custom</PresentationFormat>
  <Paragraphs>31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Rounded</vt:lpstr>
      <vt:lpstr>Arial</vt:lpstr>
      <vt:lpstr>Calibri</vt:lpstr>
      <vt:lpstr>Tema de Office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박주현</cp:lastModifiedBy>
  <cp:revision>14</cp:revision>
  <dcterms:modified xsi:type="dcterms:W3CDTF">2026-07-29T02:02:06Z</dcterms:modified>
</cp:coreProperties>
</file>